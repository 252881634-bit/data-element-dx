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linear-gradient(135deg, #062032 0%, #1F4E35 100%)', padding: 0, position: 'relative' }}&gt;&#10;    &lt;Box style={{ position: 'absolute', top: 0, left: 0, width: 1280, height: 720, flexDirection: 'row' }}&gt;&#10;        &lt;Box style={{ width: 490, height: 720, background: 'rgba(255,255,255,0.06)' }} /&gt;&#10;        &lt;Box style={{ flex: 1, height: 720 }} /&gt;&#10;    &lt;/Box&gt;&#10;&#10;    &lt;Box style={{ position: 'absolute', top: 0, left: 0, width: 6, height: 720, background: '#7FB89E' }} /&gt;&#10;&#10;    &lt;Box style={{ position: 'absolute', top: 96, left: 88, width: 1080, flexDirection: 'column' }}&gt;&#10;        &lt;Box style={{ flexDirection: 'row', alignItems: 'center', gap: 14 }}&gt;&#10;            &lt;Box style={{ width: 44, height: 3, background: '#7FB89E' }} /&gt;&#10;            &lt;Text style={{ fontSize: 18, color: '#9FC7B4', letterSpacing: 3 }}&gt;DATA ASSET INITIATIVE 2026&lt;/Text&gt;&#10;        &lt;/Box&gt;&#10;&#10;        &lt;Text style={{ fontSize: 76, fontWeight: 'bold', color: '#FFFFFF', lineHeight: 1.16, marginTop: 34 }}&gt;&#10;            集团A 数据要素&lt;Box style={{ height: 0 }} /&gt;&#10;            &lt;span style={{ color: '#9FD8BC' }}&gt;建设总体方案&lt;/span&gt;&#10;        &lt;/Text&gt;&#10;&#10;        &lt;Text style={{ fontSize: 26, color: '#B9CFC4', lineHeight: 1.5, marginTop: 30, width: 780 }}&gt;&#10;            把 20 年沉淀的真实交易数据，从&quot;躺在系统里的资源&quot;变成&quot;能确权、能变现、能入表的资产&quot;&#10;        &lt;/Text&gt;&#10;&#10;        &lt;Box style={{ width: 780, height: 1, background: 'rgba(255,255,255,0.22)', marginTop: 56 }} /&gt;&#10;&#10;        &lt;Box style={{ flexDirection: 'row', gap: 60, marginTop: 28 }}&gt;&#10;            &lt;Box style={{ flexDirection: 'column', gap: 8 }}&gt;&#10;                &lt;Text style={{ fontSize: 15, color: '#7FA797', letterSpacing: 2 }}&gt;汇报单位&lt;/Text&gt;&#10;                &lt;Text style={{ fontSize: 22, color: '#FFFFFF', fontWeight: 'bold' }}&gt;集团A 数据管理部&lt;/Text&gt;&#10;            &lt;/Box&gt;&#10;            &lt;Box style={{ flexDirection: 'column', gap: 8 }}&gt;&#10;                &lt;Text style={{ fontSize: 15, color: '#7FA797', letterSpacing: 2 }}&gt;汇报对象&lt;/Text&gt;&#10;                &lt;Text style={{ fontSize: 22, color: '#FFFFFF', fontWeight: 'bold' }}&gt;集团决策层&lt;/Text&gt;&#10;            &lt;/Box&gt;&#10;            &lt;Box style={{ flexDirection: 'column', gap: 8 }}&gt;&#10;                &lt;Text style={{ fontSize: 15, color: '#7FA797', letterSpacing: 2 }}&gt;日期&lt;/Text&gt;&#10;                &lt;Text style={{ fontSize: 22, color: '#FFFFFF', fontWeight: 'bold' }}&gt;2026.09&lt;/Text&gt;&#10;            &lt;/Box&gt;&#10;        &lt;/Box&gt;&#10;    &lt;/Box&gt;&#10;&#10;    &lt;Box style={{ position: 'absolute', top: 632, left: 88, width: 1080 }}&gt;&#10;        &lt;Text style={{ fontSize: 14, color: '#7FA797' }}&gt;本材料为方案演示，数据均经脱敏处理 ｜ 讨论稿，不构成对外承诺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2032"/>
              </a:gs>
              <a:gs pos="100000">
                <a:srgbClr val="1F4E3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66725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1009650"/>
            <a:ext cx="419100" cy="28575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390650" y="914400"/>
            <a:ext cx="3152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9FC7B4"/>
                </a:solidFill>
                <a:latin typeface="Microsoft YaHei"/>
                <a:ea typeface="Microsoft YaHei"/>
              </a:rPr>
              <a:t>DATA ASSET INITIATIVE 2026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10287000" cy="1009650"/>
          </a:xfrm>
          <a:prstGeom prst="rect"/>
        </p:spPr>
        <p:txBody>
          <a:bodyPr wrap="none" lIns="0" tIns="0" rIns="0" bIns="0"/>
          <a:p>
            <a:pPr>
              <a:lnSpc>
                <a:spcPct val="115999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集团</a:t>
            </a: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A </a:t>
            </a: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数据要素</a:t>
            </a:r>
            <a:r>
              <a:rPr lang="zh-CN" sz="5700" b="1">
                <a:solidFill>
                  <a:srgbClr val="9FD8BC"/>
                </a:solidFill>
                <a:latin typeface="Microsoft YaHei"/>
                <a:ea typeface="Microsoft YaHei"/>
              </a:rPr>
              <a:t>建设总体方案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74295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950">
                <a:solidFill>
                  <a:srgbClr val="B9CFC4"/>
                </a:solidFill>
                <a:latin typeface="Microsoft YaHei"/>
                <a:ea typeface="Microsoft YaHei"/>
              </a:rPr>
              <a:t>把</a:t>
            </a:r>
            <a:r>
              <a:rPr lang="en-US" sz="1950">
                <a:solidFill>
                  <a:srgbClr val="B9CFC4"/>
                </a:solidFill>
                <a:latin typeface="Microsoft YaHei"/>
                <a:ea typeface="Microsoft YaHei"/>
              </a:rPr>
              <a:t> 20 </a:t>
            </a:r>
            <a:r>
              <a:rPr lang="zh-CN" sz="1950">
                <a:solidFill>
                  <a:srgbClr val="B9CFC4"/>
                </a:solidFill>
                <a:latin typeface="Microsoft YaHei"/>
                <a:ea typeface="Microsoft YaHei"/>
              </a:rPr>
              <a:t>年沉淀的真实交易数据，从</a:t>
            </a:r>
            <a:r>
              <a:rPr lang="en-US" sz="1950">
                <a:solidFill>
                  <a:srgbClr val="B9CFC4"/>
                </a:solidFill>
                <a:latin typeface="Microsoft YaHei"/>
                <a:ea typeface="Microsoft YaHei"/>
              </a:rPr>
              <a:t>"</a:t>
            </a:r>
            <a:r>
              <a:rPr lang="zh-CN" sz="1950">
                <a:solidFill>
                  <a:srgbClr val="B9CFC4"/>
                </a:solidFill>
                <a:latin typeface="Microsoft YaHei"/>
                <a:ea typeface="Microsoft YaHei"/>
              </a:rPr>
              <a:t>躺在系统里的资源</a:t>
            </a:r>
            <a:r>
              <a:rPr lang="en-US" sz="1950">
                <a:solidFill>
                  <a:srgbClr val="B9CFC4"/>
                </a:solidFill>
                <a:latin typeface="Microsoft YaHei"/>
                <a:ea typeface="Microsoft YaHei"/>
              </a:rPr>
              <a:t>"</a:t>
            </a:r>
            <a:r>
              <a:rPr lang="zh-CN" sz="1950">
                <a:solidFill>
                  <a:srgbClr val="B9CFC4"/>
                </a:solidFill>
                <a:latin typeface="Microsoft YaHei"/>
                <a:ea typeface="Microsoft YaHei"/>
              </a:rPr>
              <a:t>变成</a:t>
            </a:r>
            <a:r>
              <a:rPr lang="en-US" sz="1950">
                <a:solidFill>
                  <a:srgbClr val="B9CFC4"/>
                </a:solidFill>
                <a:latin typeface="Microsoft YaHei"/>
                <a:ea typeface="Microsoft YaHei"/>
              </a:rPr>
              <a:t>"</a:t>
            </a:r>
            <a:r>
              <a:rPr lang="zh-CN" sz="1950">
                <a:solidFill>
                  <a:srgbClr val="B9CFC4"/>
                </a:solidFill>
                <a:latin typeface="Microsoft YaHei"/>
                <a:ea typeface="Microsoft YaHei"/>
              </a:rPr>
              <a:t>能确权、能变现、能入表的资产</a:t>
            </a:r>
            <a:r>
              <a:rPr lang="en-US" sz="1950">
                <a:solidFill>
                  <a:srgbClr val="B9CFC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4171950"/>
            <a:ext cx="74295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44481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FA797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38200" y="4695825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集团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数据管理部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105150" y="44481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FA797"/>
                </a:solidFill>
                <a:latin typeface="Microsoft YaHei"/>
                <a:ea typeface="Microsoft YaHei"/>
              </a:rPr>
              <a:t>汇报对象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105150" y="46958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集团决策层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724400" y="444817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7FA797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724400" y="46958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2026.09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38200" y="6019800"/>
            <a:ext cx="1028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A797"/>
                </a:solidFill>
                <a:latin typeface="Microsoft YaHei"/>
                <a:ea typeface="Microsoft YaHei"/>
              </a:rPr>
              <a:t>本材料为方案演示，数据均经脱敏处理</a:t>
            </a:r>
            <a:r>
              <a:rPr lang="en-US" sz="1050">
                <a:solidFill>
                  <a:srgbClr val="7FA797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7FA797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7FA797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7FA797"/>
                </a:solidFill>
                <a:latin typeface="Microsoft YaHei"/>
                <a:ea typeface="Microsoft YaHei"/>
              </a:rPr>
              <a:t>讨论稿，不构成对外承诺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FFFFFF', padding: '44px 60px 0 60px' }}&gt;&#13;&#10;    &lt;Text style={{ fontSize: 40, fontWeight: 'bold', color: '#062032', lineHeight: 1.2 }}&gt;&#13;&#10;        本方案回答四个问题&#13;&#10;    &lt;/Text&gt;&#13;&#10;    &lt;Box style={{ width: 1160, height: 1, background: '#000000', marginTop: 12 }} /&gt;&#13;&#10;&#13;&#10;    &lt;Box style={{ flexDirection: 'row', gap: 28, marginTop: 26, height: 200 }}&gt;&#13;&#10;        &lt;Box style={{ flex: 1, flexDirection: 'column', background: '#1F4E35', borderRadius: 4, padding: 26 }}&gt;&#13;&#10;            &lt;Text style={{ fontSize: 44, fontWeight: 'bold', color: '#FFFFFF', lineHeight: 1 }}&gt;01&lt;/Text&gt;&#13;&#10;            &lt;Text style={{ fontSize: 24, fontWeight: 'bold', color: '#FFFFFF', marginTop: 18 }}&gt;我们现在在哪&lt;/Text&gt;&#13;&#10;            &lt;Text style={{ fontSize: 18, color: '#C4DBCF', lineHeight: 1.5, marginTop: 12 }}&gt;&#13;&#10;                20 年交易数据，但既不是资产、也没产生价值&#13;&#10;            &lt;/Text&gt;&#13;&#10;        &lt;/Box&gt;&#13;&#10;        &lt;Box style={{ flex: 1, flexDirection: 'column', background: '#F2F5F3', borderRadius: 4, padding: 26 }}&gt;&#13;&#10;            &lt;Text style={{ fontSize: 44, fontWeight: 'bold', color: '#1F4E35', lineHeight: 1 }}&gt;02&lt;/Text&gt;&#13;&#10;            &lt;Text style={{ fontSize: 24, fontWeight: 'bold', color: '#062032', marginTop: 18 }}&gt;机会有多大&lt;/Text&gt;&#13;&#10;            &lt;Text style={{ fontSize: 18, color: '#44546A', lineHeight: 1.5, marginTop: 12 }}&gt;&#13;&#10;                政策在推，而我们握着别人拿不到的成交价&#13;&#10;            &lt;/Text&gt;&#13;&#10;        &lt;/Box&gt;&#13;&#10;    &lt;/Box&gt;&#13;&#10;&#13;&#10;    &lt;Box style={{ flexDirection: 'row', gap: 28, marginTop: 22, height: 200 }}&gt;&#13;&#10;        &lt;Box style={{ flex: 1, flexDirection: 'column', background: '#F2F5F3', borderRadius: 4, padding: 26 }}&gt;&#13;&#10;            &lt;Text style={{ fontSize: 44, fontWeight: 'bold', color: '#1F4E35', lineHeight: 1 }}&gt;03&lt;/Text&gt;&#13;&#10;            &lt;Text style={{ fontSize: 24, fontWeight: 'bold', color: '#062032', marginTop: 18 }}&gt;路怎么走&lt;/Text&gt;&#13;&#10;            &lt;Text style={{ fontSize: 18, color: '#44546A', lineHeight: 1.5, marginTop: 12 }}&gt;&#13;&#10;                先补汇存治管的地基，再上服用模的价值层&#13;&#10;            &lt;/Text&gt;&#13;&#10;        &lt;/Box&gt;&#13;&#10;        &lt;Box style={{ flex: 1, flexDirection: 'column', background: '#1F4E35', borderRadius: 4, padding: 26 }}&gt;&#13;&#10;            &lt;Text style={{ fontSize: 44, fontWeight: 'bold', color: '#FFFFFF', lineHeight: 1 }}&gt;04&lt;/Text&gt;&#13;&#10;            &lt;Text style={{ fontSize: 24, fontWeight: 'bold', color: '#FFFFFF', marginTop: 18 }}&gt;要领导批什么&lt;/Text&gt;&#13;&#10;            &lt;Text style={{ fontSize: 18, color: '#C4DBCF', lineHeight: 1.5, marginTop: 12 }}&gt;&#13;&#10;                确权专项、专职编制、一期启动，三件事&#13;&#10;            &lt;/Text&gt;&#13;&#10;        &lt;/Box&gt;&#13;&#10;    &lt;/Box&gt;&#13;&#10;&#13;&#10;    &lt;Box style={{ flexDirection: 'row', justifyContent: 'space-between', alignItems: 'center', marginTop: 34 }}&gt;&#13;&#10;        &lt;Text style={{ fontSize: 14, color: '#808080' }}&gt;Source: 集团A 数据要素建设总体方案（讨论稿）&lt;/Text&gt;&#13;&#10;        &lt;Text style={{ fontSize: 14, color: '#808080' }}&gt;0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062032"/>
                </a:solidFill>
                <a:latin typeface="Microsoft YaHei"/>
                <a:ea typeface="Microsoft YaHei"/>
              </a:rPr>
              <a:t>本方案回答四个问题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71500" y="1085850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571500" y="1343025"/>
            <a:ext cx="5391150" cy="1905000"/>
          </a:xfrm>
          <a:prstGeom prst="roundRect">
            <a:avLst>
              <a:gd name="adj" fmla="val 2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19150" y="1590675"/>
            <a:ext cx="4895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19150" y="226695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我们现在在哪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19150" y="265747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20 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年交易数据，但既不是资产、也没产生价值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229350" y="1343025"/>
            <a:ext cx="5391150" cy="1905000"/>
          </a:xfrm>
          <a:prstGeom prst="roundRect">
            <a:avLst>
              <a:gd name="adj" fmla="val 2000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477000" y="1590675"/>
            <a:ext cx="4895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4E3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477000" y="226695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2032"/>
                </a:solidFill>
                <a:latin typeface="Microsoft YaHei"/>
                <a:ea typeface="Microsoft YaHei"/>
              </a:rPr>
              <a:t>机会有多大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77000" y="265747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政策在推，而我们握着别人拿不到的成交价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71500" y="3457575"/>
            <a:ext cx="5391150" cy="1905000"/>
          </a:xfrm>
          <a:prstGeom prst="roundRect">
            <a:avLst>
              <a:gd name="adj" fmla="val 2000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19150" y="3705225"/>
            <a:ext cx="4895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4E3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2032"/>
                </a:solidFill>
                <a:latin typeface="Microsoft YaHei"/>
                <a:ea typeface="Microsoft YaHei"/>
              </a:rPr>
              <a:t>路怎么走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19150" y="477202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先补汇存治管的地基，再上服用模的价值层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229350" y="3457575"/>
            <a:ext cx="5391150" cy="1905000"/>
          </a:xfrm>
          <a:prstGeom prst="roundRect">
            <a:avLst>
              <a:gd name="adj" fmla="val 2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77000" y="3705225"/>
            <a:ext cx="4895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477000" y="438150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要领导批什么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477000" y="477202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确权专项、专职编制、一期启动，三件事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568642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集团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数据要素建设总体方案（讨论稿）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1458575" y="56864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style={{ width: 1280, height: 720, background: '#062032', padding: 0, position: 'relative' }}&gt;&#10;    &lt;Box style={{ position: 'absolute', top: 0, left: 0, width: 1280, height: 720, flexDirection: 'row', alignItems: 'center' }}&gt;&#10;        &lt;Box style={{ width: 470, justifyContent: 'center', alignItems: 'flex-start' }}&gt;&#10;            &lt;Text style={{ fontSize: 260, fontWeight: 'bold', color: 'rgba(255,255,255,0.10)', lineHeight: 1, marginLeft: 44 }}&gt;01&lt;/Text&gt;&#10;        &lt;/Box&gt;&#10;        &lt;Box style={{ width: 1, height: 240, background: 'rgba(255,255,255,0.18)' }} /&gt;&#10;        &lt;Box style={{ flex: 1, flexDirection: 'column', gap: 18, paddingLeft: 64 }}&gt;&#10;            &lt;Text style={{ fontSize: 15, color: '#7FA797', letterSpacing: 4 }}&gt;PART ONE&lt;/Text&gt;&#10;            &lt;Text style={{ fontSize: 48, fontWeight: 'bold', color: '#FFFFFF', lineHeight: 1.25 }}&gt;&#10;                现状：有数据，&lt;Box style={{ height: 0 }} /&gt;但没有资产&#10;            &lt;/Text&gt;&#10;            &lt;Text style={{ fontSize: 20, color: 'rgba(255,255,255,0.55)', lineHeight: 1.5, width: 560 }}&gt;&#10;                Current State — 我们用业务语言说明今天的位置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19100" y="1943100"/>
            <a:ext cx="30575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0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476750" y="2286000"/>
            <a:ext cx="9525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095875" y="2657475"/>
            <a:ext cx="709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7FA797"/>
                </a:solidFill>
                <a:latin typeface="Microsoft YaHei"/>
                <a:ea typeface="Microsoft YaHei"/>
              </a:rPr>
              <a:t>PART ONE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095875" y="3000375"/>
            <a:ext cx="7096125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现状：有数据，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但没有资产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095875" y="3857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Current State — </a:t>
            </a:r>
            <a:r>
              <a:rPr lang="zh-CN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我们用业务语言说明今天的位置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93" name="" descr="&lt;Slide style={{ width: 1280, height: 720, background: '#FFFFFF', padding: '44px 60px 0 60px' }}&gt;&#10;    &lt;Text style={{ fontSize: 34, fontWeight: 'bold', color: '#062032', lineHeight: 1.28 }}&gt;&#10;        20 年交易数据躺在系统里，&lt;Box style={{ height: 0 }} /&gt;既未确权、也未产生价值&#10;    &lt;/Text&gt;&#10;    &lt;Box style={{ width: 1160, height: 1, background: '#000000', marginTop: 12 }} /&gt;&#10;&#10;    &lt;Box style={{ flexDirection: 'row', gap: 24, marginTop: 30 }}&gt;&#10;        &lt;Box style={{ flex: 1, flexDirection: 'column' }}&gt;&#10;            &lt;Box style={{ flexDirection: 'row', alignItems: 'center', gap: 10 }}&gt;&#10;                &lt;Box style={{ width: 4, height: 26, background: '#1F4E35' }} /&gt;&#10;                &lt;Text style={{ fontSize: 24, fontWeight: 'bold', color: '#1F4E35' }}&gt;现状 CONTEXT&lt;/Text&gt;&#10;            &lt;/Box&gt;&#10;            &lt;Text style={{ fontSize: 22, color: '#333333', lineHeight: 1.5, marginTop: 18 }}&gt;&#10;                六个农批市场、20 年真实成交记录，每天产生进场、交易、结算、价格四类高密度数据。&#10;                体量上我们**不缺数据**，库表已到千级。&#10;            &lt;/Text&gt;&#10;        &lt;/Box&gt;&#10;        &lt;Box style={{ flex: 1, flexDirection: 'column' }}&gt;&#10;            &lt;Box style={{ flexDirection: 'row', alignItems: 'center', gap: 10 }}&gt;&#10;                &lt;Box style={{ width: 4, height: 26, background: '#1F4E35' }} /&gt;&#10;                &lt;Text style={{ fontSize: 24, fontWeight: 'bold', color: '#1F4E35' }}&gt;矛盾 COMPLICATION&lt;/Text&gt;&#10;            &lt;/Box&gt;&#10;            &lt;Text style={{ fontSize: 22, color: '#333333', lineHeight: 1.5, marginTop: 18 }}&gt;&#10;                但这些数据**没有一项进入资产负债表**，也没有一个对外产品。&#10;                更关键的是：同一组数据，六个市场各算各的，单位甚至不统一。&#10;            &lt;/Text&gt;&#10;        &lt;/Box&gt;&#10;        &lt;Box style={{ flex: 1, flexDirection: 'column' }}&gt;&#10;            &lt;Box style={{ flexDirection: 'row', alignItems: 'center', gap: 10 }}&gt;&#10;                &lt;Box style={{ width: 4, height: 26, background: '#1F4E35' }} /&gt;&#10;                &lt;Text style={{ fontSize: 24, fontWeight: 'bold', color: '#1F4E35' }}&gt;结论 RESOLUTION&lt;/Text&gt;&#10;            &lt;/Box&gt;&#10;            &lt;Text style={{ fontSize: 22, color: '#333333', lineHeight: 1.5, marginTop: 18 }}&gt;&#10;                现在的窗口期很明确：数据要素政策已经铺好路，&#10;                **我们只要把&quot;地基&quot;补齐，这些数据就能逐级变成资产。错过窗口，追赶成本更高。**&#10;            &lt;/Text&gt;&#10;        &lt;/Box&gt;&#10;    &lt;/Box&gt;&#10;&#10;    &lt;Box style={{ marginTop: 30, background: '#F2F5F3', borderRadius: 4, padding: '22px 28px', flexDirection: 'row', alignItems: 'center', gap: 28 }}&gt;&#10;        &lt;Text style={{ fontSize: 44, fontWeight: 'bold', color: '#1F4E35', lineHeight: 1 }}&gt;20 年&lt;/Text&gt;&#10;        &lt;Box style={{ width: 1, height: 46, background: '#C4DBCF' }} /&gt;&#10;        &lt;Text style={{ fontSize: 22, color: '#062032', lineHeight: 1.45, flex: 1 }}&gt;&#10;            经营数据积累时长 —— 这是政策无法快速补齐的先发优势，**也是所有新进入者拿不到的东西**&#10;        &lt;/Text&gt;&#10;    &lt;/Box&gt;&#10;&#10;    &lt;Box style={{ flexDirection: 'row', justifyContent: 'space-between', alignItems: 'center', marginTop: 26 }}&gt;&#10;        &lt;Text style={{ fontSize: 14, color: '#808080' }}&gt;Source: 集团A 数据摸底摘要（会议材料） ｜ Footnote: 数据经脱敏&lt;/Text&gt;&#10;        &lt;Text style={{ fontSize: 14, color: '#808080' }}&gt;0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20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年交易数据躺在系统里，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既未确权、也未产生价值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571500" y="1352550"/>
            <a:ext cx="38100" cy="2476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4850" y="1333500"/>
            <a:ext cx="1647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4E35"/>
                </a:solidFill>
                <a:latin typeface="Microsoft YaHei"/>
                <a:ea typeface="Microsoft YaHei"/>
              </a:rPr>
              <a:t>现状</a:t>
            </a:r>
            <a:r>
              <a:rPr lang="en-US" sz="1800" b="1">
                <a:solidFill>
                  <a:srgbClr val="1F4E35"/>
                </a:solidFill>
                <a:latin typeface="Microsoft YaHei"/>
                <a:ea typeface="Microsoft YaHei"/>
              </a:rPr>
              <a:t> CONTEXT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71500" y="1781175"/>
            <a:ext cx="3533775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六个农批市场、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20 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年真实成交记录，每天产生进场、交易、结算、价格四类高密度数据。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体量上我们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不缺数据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，库表已到千级。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333875" y="1352550"/>
            <a:ext cx="38100" cy="2476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67225" y="1333500"/>
            <a:ext cx="236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4E35"/>
                </a:solidFill>
                <a:latin typeface="Microsoft YaHei"/>
                <a:ea typeface="Microsoft YaHei"/>
              </a:rPr>
              <a:t>矛盾</a:t>
            </a:r>
            <a:r>
              <a:rPr lang="en-US" sz="1800" b="1">
                <a:solidFill>
                  <a:srgbClr val="1F4E35"/>
                </a:solidFill>
                <a:latin typeface="Microsoft YaHei"/>
                <a:ea typeface="Microsoft YaHei"/>
              </a:rPr>
              <a:t> COMPLICATION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333875" y="1781175"/>
            <a:ext cx="3524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但这些数据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没有一项进入资产负债表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，也没有一个对外产品。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更关键的是：同一组数据，六个市场各算各的，单位甚至不统一。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086725" y="1352550"/>
            <a:ext cx="38100" cy="2476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220075" y="1333500"/>
            <a:ext cx="2047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4E35"/>
                </a:solidFill>
                <a:latin typeface="Microsoft YaHei"/>
                <a:ea typeface="Microsoft YaHei"/>
              </a:rPr>
              <a:t>结论</a:t>
            </a:r>
            <a:r>
              <a:rPr lang="en-US" sz="1800" b="1">
                <a:solidFill>
                  <a:srgbClr val="1F4E35"/>
                </a:solidFill>
                <a:latin typeface="Microsoft YaHei"/>
                <a:ea typeface="Microsoft YaHei"/>
              </a:rPr>
              <a:t> RESOLUTION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086725" y="1781175"/>
            <a:ext cx="3533775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现在的窗口期很明确：数据要素政策已经铺好路，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 **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我们只要把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地基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333333"/>
                </a:solidFill>
                <a:latin typeface="Microsoft YaHei"/>
                <a:ea typeface="Microsoft YaHei"/>
              </a:rPr>
              <a:t>补齐，这些数据就能逐级变成资产。错过窗口，追赶成本更高。</a:t>
            </a:r>
            <a:r>
              <a:rPr lang="en-US" sz="165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" y="3581400"/>
            <a:ext cx="11049000" cy="923925"/>
          </a:xfrm>
          <a:prstGeom prst="roundRect">
            <a:avLst>
              <a:gd name="adj" fmla="val 4124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8200" y="3790950"/>
            <a:ext cx="1066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F4E35"/>
                </a:solidFill>
                <a:latin typeface="Microsoft YaHei"/>
                <a:ea typeface="Microsoft YaHei"/>
              </a:rPr>
              <a:t>20 </a:t>
            </a:r>
            <a:r>
              <a:rPr lang="zh-CN" sz="3300" b="1">
                <a:solidFill>
                  <a:srgbClr val="1F4E35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2171700" y="3829050"/>
            <a:ext cx="9525" cy="438150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2447925" y="3857625"/>
            <a:ext cx="8905875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062032"/>
                </a:solidFill>
                <a:latin typeface="Microsoft YaHei"/>
                <a:ea typeface="Microsoft YaHei"/>
              </a:rPr>
              <a:t>经营数据积累时长</a:t>
            </a:r>
            <a:r>
              <a:rPr lang="en-US" sz="1650">
                <a:solidFill>
                  <a:srgbClr val="062032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062032"/>
                </a:solidFill>
                <a:latin typeface="Microsoft YaHei"/>
                <a:ea typeface="Microsoft YaHei"/>
              </a:rPr>
              <a:t>这是政策无法快速补齐的先发优势，</a:t>
            </a:r>
            <a:r>
              <a:rPr lang="en-US" sz="1650">
                <a:solidFill>
                  <a:srgbClr val="062032"/>
                </a:solidFill>
                <a:latin typeface="Microsoft YaHei"/>
                <a:ea typeface="Microsoft YaHei"/>
              </a:rPr>
              <a:t>**</a:t>
            </a:r>
            <a:r>
              <a:rPr lang="zh-CN" sz="1650">
                <a:solidFill>
                  <a:srgbClr val="062032"/>
                </a:solidFill>
                <a:latin typeface="Microsoft YaHei"/>
                <a:ea typeface="Microsoft YaHei"/>
              </a:rPr>
              <a:t>也是所有新进入者拿不到的东西</a:t>
            </a:r>
            <a:r>
              <a:rPr lang="en-US" sz="1650">
                <a:solidFill>
                  <a:srgbClr val="062032"/>
                </a:solidFill>
                <a:latin typeface="Microsoft YaHei"/>
                <a:ea typeface="Microsoft YaHei"/>
              </a:rPr>
              <a:t>**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1500" y="4752975"/>
            <a:ext cx="4048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集团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A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数据摸底摘要（会议材料）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数据经脱敏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1458575" y="47529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12" name="" descr="&lt;Slide style={{ width: 1280, height: 720, background: '#FFFFFF', padding: '44px 60px 0 60px' }}&gt;&#10;    &lt;Text style={{ fontSize: 34, fontWeight: 'bold', color: '#062032', lineHeight: 1.28 }}&gt;&#10;        三个事实说明我们处在&quot;有货无价&quot;状态&#10;    &lt;/Text&gt;&#10;    &lt;Box style={{ width: 1160, height: 1, background: '#000000', marginTop: 12 }} /&gt;&#10;&#10;    &lt;Box style={{ flexDirection: 'row', gap: 22, marginTop: 26, height: 300 }}&gt;&#10;        &lt;Box style={{ flex: 1, flexDirection: 'column', background: '#F2F5F3', borderRadius: 4, padding: '24px 22px' }}&gt;&#10;            &lt;Text style={{ fontSize: 17, fontWeight: 'bold', color: '#7FA797', letterSpacing: 2 }}&gt;事实 01&lt;/Text&gt;&#10;            &lt;Text style={{ fontSize: 54, fontWeight: 'bold', color: '#1F4E35', lineHeight: 1.05, marginTop: 10 }}&gt;6 家&lt;/Text&gt;&#10;            &lt;Text style={{ fontSize: 21, fontWeight: 'bold', color: '#062032', marginTop: 10 }}&gt;各记各的账&lt;/Text&gt;&#10;            &lt;Text style={{ fontSize: 18, color: '#44546A', lineHeight: 1.45, marginTop: 10 }}&gt;&#10;                集团看不到一张统一的经营全貌。要看数，得等各家把 Excel 报表报上来。&#10;            &lt;/Text&gt;&#10;        &lt;/Box&gt;&#10;        &lt;Box style={{ flex: 1, flexDirection: 'column', background: '#F2F5F3', borderRadius: 4, padding: '24px 22px' }}&gt;&#10;            &lt;Text style={{ fontSize: 17, fontWeight: 'bold', color: '#7FA797', letterSpacing: 2 }}&gt;事实 02&lt;/Text&gt;&#10;            &lt;Text style={{ fontSize: 54, fontWeight: 'bold', color: '#1F4E35', lineHeight: 1.05, marginTop: 10 }}&gt;2 套&lt;/Text&gt;&#10;            &lt;Text style={{ fontSize: 21, fontWeight: 'bold', color: '#062032', marginTop: 10 }}&gt;计量单位并存&lt;/Text&gt;&#10;            &lt;Text style={{ fontSize: 18, color: '#44546A', lineHeight: 1.45, marginTop: 10 }}&gt;&#10;                同一组价格，有市场按&quot;元/斤&quot;、有市场按&quot;元/公斤&quot;，横向一对比就是错的。&#10;            &lt;/Text&gt;&#10;        &lt;/Box&gt;&#10;        &lt;Box style={{ flex: 1, flexDirection: 'column', background: '#1F4E35', borderRadius: 4, padding: '24px 22px' }}&gt;&#10;            &lt;Text style={{ fontSize: 17, fontWeight: 'bold', color: '#9FD8BC', letterSpacing: 2 }}&gt;事实 03&lt;/Text&gt;&#10;            &lt;Text style={{ fontSize: 54, fontWeight: 'bold', color: '#FFFFFF', lineHeight: 1.05, marginTop: 10 }}&gt;0 个&lt;/Text&gt;&#10;            &lt;Text style={{ fontSize: 21, fontWeight: 'bold', color: '#FFFFFF', marginTop: 10 }}&gt;对外数据产品&lt;/Text&gt;&#10;            &lt;Text style={{ fontSize: 18, color: '#C4DBCF', lineHeight: 1.45, marginTop: 10 }}&gt;&#10;                价格指数这类最有价值的产出，目前完全空白，数据只在内部循环。&#10;            &lt;/Text&gt;&#10;        &lt;/Box&gt;&#10;    &lt;/Box&gt;&#10;&#10;    &lt;Box style={{ marginTop: 22, flexDirection: 'row', alignItems: 'center', gap: 16, background: '#FFFFFF', border: '1px solid #E7E6E6', borderRadius: 4, padding: '16px 24px' }}&gt;&#10;        &lt;Box style={{ width: 4, height: 40, background: '#1F4E35' }} /&gt;&#10;        &lt;Text style={{ fontSize: 20, color: '#062032', lineHeight: 1.45, flex: 1 }}&gt;&#10;            这三个事实不带抱怨，只说明一件事：&lt;span style={{ fontWeight: 'bold' }}&gt;我们的问题不在&quot;数据不够&quot;，而在&quot;数据没被组织成资产&quot;。&lt;/span&gt;&#10;        &lt;/Text&gt;&#10;    &lt;/Box&gt;&#10;&#10;    &lt;Box style={{ flexDirection: 'row', justifyContent: 'space-between', alignItems: 'center', marginTop: 20 }}&gt;&#10;        &lt;Text style={{ fontSize: 14, color: '#808080' }}&gt;Source: 数据摸底摘要 ｜ 质量实测报告（6 维实测定稿）&lt;/Text&gt;&#10;        &lt;Text style={{ fontSize: 14, color: '#808080' }}&gt;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三个事实说明我们处在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有货无价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571500" y="1295400"/>
            <a:ext cx="3543300" cy="2857500"/>
          </a:xfrm>
          <a:prstGeom prst="roundRect">
            <a:avLst>
              <a:gd name="adj" fmla="val 1333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81050" y="152400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事实</a:t>
            </a:r>
            <a:r>
              <a:rPr lang="en-US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81050" y="1819275"/>
            <a:ext cx="3124200" cy="6572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050" b="1">
                <a:solidFill>
                  <a:srgbClr val="1F4E35"/>
                </a:solidFill>
                <a:latin typeface="Microsoft YaHei"/>
                <a:ea typeface="Microsoft YaHei"/>
              </a:rPr>
              <a:t>6 </a:t>
            </a:r>
            <a:r>
              <a:rPr lang="zh-CN" sz="4050" b="1">
                <a:solidFill>
                  <a:srgbClr val="1F4E35"/>
                </a:solidFill>
                <a:latin typeface="Microsoft YaHei"/>
                <a:ea typeface="Microsoft YaHei"/>
              </a:rPr>
              <a:t>家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81050" y="257175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各记各的账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81050" y="2914650"/>
            <a:ext cx="31242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集团看不到一张统一的经营全貌。要看数，得等各家把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Excel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报表报上来。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324350" y="1295400"/>
            <a:ext cx="3543300" cy="2857500"/>
          </a:xfrm>
          <a:prstGeom prst="roundRect">
            <a:avLst>
              <a:gd name="adj" fmla="val 1333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533900" y="152400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事实</a:t>
            </a:r>
            <a:r>
              <a:rPr lang="en-US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 02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533900" y="1819275"/>
            <a:ext cx="3124200" cy="6572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050" b="1">
                <a:solidFill>
                  <a:srgbClr val="1F4E35"/>
                </a:solidFill>
                <a:latin typeface="Microsoft YaHei"/>
                <a:ea typeface="Microsoft YaHei"/>
              </a:rPr>
              <a:t>2 </a:t>
            </a:r>
            <a:r>
              <a:rPr lang="zh-CN" sz="4050" b="1">
                <a:solidFill>
                  <a:srgbClr val="1F4E35"/>
                </a:solidFill>
                <a:latin typeface="Microsoft YaHei"/>
                <a:ea typeface="Microsoft YaHei"/>
              </a:rPr>
              <a:t>套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33900" y="257175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计量单位并存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33900" y="2914650"/>
            <a:ext cx="31242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同一组价格，有市场按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元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斤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、有市场按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元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公斤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，横向一对比就是错的。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8077200" y="1295400"/>
            <a:ext cx="3543300" cy="2857500"/>
          </a:xfrm>
          <a:prstGeom prst="roundRect">
            <a:avLst>
              <a:gd name="adj" fmla="val 1333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286750" y="152400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事实</a:t>
            </a:r>
            <a:r>
              <a:rPr lang="en-US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286750" y="1819275"/>
            <a:ext cx="3124200" cy="6572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050" b="1">
                <a:solidFill>
                  <a:srgbClr val="FFFFFF"/>
                </a:solidFill>
                <a:latin typeface="Microsoft YaHei"/>
                <a:ea typeface="Microsoft YaHei"/>
              </a:rPr>
              <a:t>0 </a:t>
            </a: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286750" y="257175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对外数据产品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286750" y="2914650"/>
            <a:ext cx="31242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价格指数这类最有价值的产出，目前完全空白，数据只在内部循环。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4362450"/>
            <a:ext cx="1104900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0100" y="4514850"/>
            <a:ext cx="38100" cy="3810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90600" y="4543425"/>
            <a:ext cx="104013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062032"/>
                </a:solidFill>
                <a:latin typeface="Microsoft YaHei"/>
                <a:ea typeface="Microsoft YaHei"/>
              </a:rPr>
              <a:t>这三个事实不带抱怨，只说明一件事：</a:t>
            </a:r>
            <a:r>
              <a:rPr lang="zh-CN" sz="1500" b="1">
                <a:solidFill>
                  <a:srgbClr val="062032"/>
                </a:solidFill>
                <a:latin typeface="Microsoft YaHei"/>
                <a:ea typeface="Microsoft YaHei"/>
              </a:rPr>
              <a:t>我们的问题不在</a:t>
            </a:r>
            <a:r>
              <a:rPr lang="en-US" sz="150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62032"/>
                </a:solidFill>
                <a:latin typeface="Microsoft YaHei"/>
                <a:ea typeface="Microsoft YaHei"/>
              </a:rPr>
              <a:t>数据不够</a:t>
            </a:r>
            <a:r>
              <a:rPr lang="en-US" sz="150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62032"/>
                </a:solidFill>
                <a:latin typeface="Microsoft YaHei"/>
                <a:ea typeface="Microsoft YaHei"/>
              </a:rPr>
              <a:t>，而在</a:t>
            </a:r>
            <a:r>
              <a:rPr lang="en-US" sz="150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62032"/>
                </a:solidFill>
                <a:latin typeface="Microsoft YaHei"/>
                <a:ea typeface="Microsoft YaHei"/>
              </a:rPr>
              <a:t>数据没被组织成资产</a:t>
            </a:r>
            <a:r>
              <a:rPr lang="en-US" sz="150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06203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71500" y="52387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数据摸底摘要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质量实测报告（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6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维实测定稿）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458575" y="52387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36" name="" descr="&lt;Slide style={{ width: 1280, height: 720, background: '#062032', padding: 0, position: 'relative' }}&gt;&#10;    &lt;Box style={{ position: 'absolute', top: 0, left: 0, width: 1280, height: 720, flexDirection: 'row', alignItems: 'center' }}&gt;&#10;        &lt;Box style={{ width: 470, justifyContent: 'center', alignItems: 'flex-start' }}&gt;&#10;            &lt;Text style={{ fontSize: 260, fontWeight: 'bold', color: 'rgba(255,255,255,0.10)', lineHeight: 1, marginLeft: 44 }}&gt;02&lt;/Text&gt;&#10;        &lt;/Box&gt;&#10;        &lt;Box style={{ width: 1, height: 240, background: 'rgba(255,255,255,0.18)' }} /&gt;&#10;        &lt;Box style={{ flex: 1, flexDirection: 'column', gap: 18, paddingLeft: 64 }}&gt;&#10;            &lt;Text style={{ fontSize: 15, color: '#7FA797', letterSpacing: 4 }}&gt;PART TWO&lt;/Text&gt;&#10;            &lt;Text style={{ fontSize: 48, fontWeight: 'bold', color: '#FFFFFF', lineHeight: 1.25 }}&gt;&#10;                机会：政策窗口&lt;Box style={{ height: 0 }} /&gt;与独家数据&#10;            &lt;/Text&gt;&#10;            &lt;Text style={{ fontSize: 20, color: 'rgba(255,255,255,0.55)', lineHeight: 1.5, width: 560 }}&gt;&#10;                Opportunity — 为什么现在是做这件事的最好时机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19100" y="1943100"/>
            <a:ext cx="30575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0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476750" y="2286000"/>
            <a:ext cx="9525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095875" y="2657475"/>
            <a:ext cx="709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7FA797"/>
                </a:solidFill>
                <a:latin typeface="Microsoft YaHei"/>
                <a:ea typeface="Microsoft YaHei"/>
              </a:rPr>
              <a:t>PART TWO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095875" y="3000375"/>
            <a:ext cx="7096125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机会：政策窗口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与独家数据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095875" y="3857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Opportunity — </a:t>
            </a:r>
            <a:r>
              <a:rPr lang="zh-CN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为什么现在是做这件事的最好时机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width: 1280, height: 720, background: '#FFFFFF', padding: '44px 60px 0 60px' }}&gt;&#10;    &lt;Text style={{ fontSize: 34, fontWeight: 'bold', color: '#062032', lineHeight: 1.28 }}&gt;&#10;        政策在推，而我们握着别人拿不到的价格数据&#10;    &lt;/Text&gt;&#10;    &lt;Box style={{ width: 1160, height: 1, background: '#000000', marginTop: 12 }} /&gt;&#10;&#10;    &lt;Box style={{ marginTop: 28, flexDirection: 'row', alignItems: 'center', height: 132 }}&gt;&#10;        &lt;Box style={{ flex: 1, height: 132, background: '#1F4E35', justifyContent: 'center', paddingLeft: 26 }}&gt;&#10;            &lt;Text style={{ fontSize: 26, fontWeight: 'bold', color: '#FFFFFF' }}&gt;数据要素 × 现代农业&lt;/Text&gt;&#10;            &lt;Text style={{ fontSize: 18, color: '#C4DBCF', marginTop: 10 }}&gt;政策方向&lt;/Text&gt;&#10;        &lt;/Box&gt;&#10;        &lt;Box style={{ width: 56, height: 56, background: '#1F4E35', borderRadius: 28, justifyContent: 'center', alignItems: 'center', marginLeft: -28, zIndex: 2 }}&gt;&#10;            &lt;Text style={{ fontSize: 26, color: '#FFFFFF', fontWeight: 'bold' }}&gt;×&lt;/Text&gt;&#10;        &lt;/Box&gt;&#10;        &lt;Box style={{ flex: 1, height: 132, background: '#062032', justifyContent: 'center', paddingLeft: 40 }}&gt;&#10;            &lt;Text style={{ fontSize: 26, fontWeight: 'bold', color: '#FFFFFF' }}&gt;跨 6 家市场实际成交价&lt;/Text&gt;&#10;            &lt;Text style={{ fontSize: 18, color: '#9FC7B4', marginTop: 10 }}&gt;我们的独家资产&lt;/Text&gt;&#10;        &lt;/Box&gt;&#10;        &lt;Box style={{ width: 56, height: 56, background: '#1F4E35', borderRadius: 28, justifyContent: 'center', alignItems: 'center', marginLeft: -28, zIndex: 2 }}&gt;&#10;            &lt;Text style={{ fontSize: 26, color: '#FFFFFF', fontWeight: 'bold' }}&gt;=&lt;/Text&gt;&#10;        &lt;/Box&gt;&#10;        &lt;Box style={{ flex: 1, height: 132, background: '#7FB89E', justifyContent: 'center', paddingLeft: 40 }}&gt;&#10;            &lt;Text style={{ fontSize: 26, fontWeight: 'bold', color: '#062032' }}&gt;行业定价参考&lt;/Text&gt;&#10;            &lt;Text style={{ fontSize: 18, color: '#2C5A44', marginTop: 10 }}&gt;我们要占的位置&lt;/Text&gt;&#10;        &lt;/Box&gt;&#10;    &lt;/Box&gt;&#10;&#10;    &lt;Box style={{ flexDirection: 'row', gap: 24, marginTop: 30, height: 214 }}&gt;&#10;        &lt;Box style={{ flex: 1, flexDirection: 'column', borderTop: '2px solid #1F4E35', paddingTop: 18 }}&gt;&#10;            &lt;Text style={{ fontSize: 22, fontWeight: 'bold', color: '#1F4E35' }}&gt;政策给了什么&lt;/Text&gt;&#10;            &lt;Text style={{ fontSize: 20, color: '#333333', lineHeight: 1.5, marginTop: 12 }}&gt;&#10;                数据要素市场化的顶层设计已落地，地方对农业数据服务有明确支持方向。&#10;                &lt;Box style={{ height: 0 }} /&gt;&#10;                &lt;span style={{ color: '#808080' }}&gt;→ 我们要做的不是&quot;发明需求&quot;，而是&quot;接上已开的口子&quot;。&lt;/span&gt;&#10;            &lt;/Text&gt;&#10;        &lt;/Box&gt;&#10;        &lt;Box style={{ flex: 1, flexDirection: 'column', borderTop: '2px solid #1F4E35', paddingTop: 18 }}&gt;&#10;            &lt;Text style={{ fontSize: 22, fontWeight: 'bold', color: '#1F4E35' }}&gt;别人缺什么&lt;/Text&gt;&#10;            &lt;Text style={{ fontSize: 20, color: '#333333', lineHeight: 1.5, marginTop: 12 }}&gt;&#10;                外部机构能拿到的是报价、抽样、公开统计——**不是真实成交**。&#10;                &lt;Box style={{ height: 0 }} /&gt;&#10;                &lt;span style={{ color: '#808080' }}&gt;→ 报价与成交之间的差距，就是我们的数据壁垒。&lt;/span&gt;&#10;            &lt;/Text&gt;&#10;        &lt;/Box&gt;&#10;        &lt;Box style={{ flex: 1, flexDirection: 'column', borderTop: '2px solid #1F4E35', paddingTop: 18 }}&gt;&#10;            &lt;Text style={{ fontSize: 22, fontWeight: 'bold', color: '#1F4E35' }}&gt;我们有什么&lt;/Text&gt;&#10;            &lt;Text style={{ fontSize: 20, color: '#333333', lineHeight: 1.5, marginTop: 12 }}&gt;&#10;                进场量、成交量、成交价、流向，四条链路都真实在我们的系统里跑。&#10;                &lt;Box style={{ height: 0 }} /&gt;&#10;                &lt;span style={{ color: '#808080' }}&gt;→ 这种&quot;全链路真实数据&quot;极难被复制。&lt;/span&gt;&#10;            &lt;/Text&gt;&#10;        &lt;/Box&gt;&#10;    &lt;/Box&gt;&#10;&#10;    &lt;Box style={{ flexDirection: 'row', justifyContent: 'space-between', alignItems: 'center', marginTop: 22 }}&gt;&#10;        &lt;Text style={{ fontSize: 14, color: '#808080' }}&gt;Source: 政策公开信息梳理 ｜ 集团数据资产盘点&lt;/Text&gt;&#10;        &lt;Text style={{ fontSize: 14, color: '#808080' }}&gt;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政策在推，而我们握着别人拿不到的价格数据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571500" y="1314450"/>
            <a:ext cx="3505200" cy="12573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19150" y="1638300"/>
            <a:ext cx="3257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数据要素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×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现代农业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19150" y="20383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政策方向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343400" y="1314450"/>
            <a:ext cx="3505200" cy="12573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724400" y="1638300"/>
            <a:ext cx="3124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跨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6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家市场实际成交价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724400" y="20383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C7B4"/>
                </a:solidFill>
                <a:latin typeface="Microsoft YaHei"/>
                <a:ea typeface="Microsoft YaHei"/>
              </a:rPr>
              <a:t>我们的独家资产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115300" y="1314450"/>
            <a:ext cx="3505200" cy="1257300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496300" y="1638300"/>
            <a:ext cx="3124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62032"/>
                </a:solidFill>
                <a:latin typeface="Microsoft YaHei"/>
                <a:ea typeface="Microsoft YaHei"/>
              </a:rPr>
              <a:t>行业定价参考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496300" y="20383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C5A44"/>
                </a:solidFill>
                <a:latin typeface="Microsoft YaHei"/>
                <a:ea typeface="Microsoft YaHei"/>
              </a:rPr>
              <a:t>我们要占的位置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71500" y="2857500"/>
            <a:ext cx="3533775" cy="2057400"/>
          </a:xfrm>
          <a:custGeom>
            <a:pathLst>
              <a:path w="371" h="216">
                <a:moveTo>
                  <a:pt x="0" y="0"/>
                </a:moveTo>
                <a:lnTo>
                  <a:pt x="371" y="0"/>
                </a:lnTo>
                <a:lnTo>
                  <a:pt x="371" y="2"/>
                </a:lnTo>
                <a:lnTo>
                  <a:pt x="0" y="2"/>
                </a:lnTo>
                <a:close/>
              </a:path>
            </a:pathLst>
          </a:custGeom>
          <a:solidFill>
            <a:srgbClr val="1F4E35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71500" y="3048000"/>
            <a:ext cx="3533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4E35"/>
                </a:solidFill>
                <a:latin typeface="Microsoft YaHei"/>
                <a:ea typeface="Microsoft YaHei"/>
              </a:rPr>
              <a:t>政策给了什么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533775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333333"/>
                </a:solidFill>
                <a:latin typeface="Microsoft YaHei"/>
                <a:ea typeface="Microsoft YaHei"/>
              </a:rPr>
              <a:t>数据要素市场化的顶层设计已落地，地方对农业数据服务有明确支持方向。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→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我们要做的不是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发明需求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，而是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接上已开的口子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4333875" y="2857500"/>
            <a:ext cx="3524250" cy="2057400"/>
          </a:xfrm>
          <a:custGeom>
            <a:pathLst>
              <a:path w="370" h="216">
                <a:moveTo>
                  <a:pt x="0" y="0"/>
                </a:moveTo>
                <a:lnTo>
                  <a:pt x="370" y="0"/>
                </a:lnTo>
                <a:lnTo>
                  <a:pt x="37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4E35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333875" y="3048000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4E35"/>
                </a:solidFill>
                <a:latin typeface="Microsoft YaHei"/>
                <a:ea typeface="Microsoft YaHei"/>
              </a:rPr>
              <a:t>别人缺什么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333875" y="3419475"/>
            <a:ext cx="35242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333333"/>
                </a:solidFill>
                <a:latin typeface="Microsoft YaHei"/>
                <a:ea typeface="Microsoft YaHei"/>
              </a:rPr>
              <a:t>外部机构能拿到的是报价、抽样、公开统计——</a:t>
            </a:r>
            <a:r>
              <a:rPr lang="en-US" sz="150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500">
                <a:solidFill>
                  <a:srgbClr val="333333"/>
                </a:solidFill>
                <a:latin typeface="Microsoft YaHei"/>
                <a:ea typeface="Microsoft YaHei"/>
              </a:rPr>
              <a:t>不是真实成交</a:t>
            </a:r>
            <a:r>
              <a:rPr lang="en-US" sz="1500">
                <a:solidFill>
                  <a:srgbClr val="333333"/>
                </a:solidFill>
                <a:latin typeface="Microsoft YaHei"/>
                <a:ea typeface="Microsoft YaHei"/>
              </a:rPr>
              <a:t>**</a:t>
            </a:r>
            <a:r>
              <a:rPr lang="zh-CN" sz="150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→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报价与成交之间的差距，就是我们的数据壁垒。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086725" y="2857500"/>
            <a:ext cx="3533775" cy="2057400"/>
          </a:xfrm>
          <a:custGeom>
            <a:pathLst>
              <a:path w="371" h="216">
                <a:moveTo>
                  <a:pt x="0" y="0"/>
                </a:moveTo>
                <a:lnTo>
                  <a:pt x="371" y="0"/>
                </a:lnTo>
                <a:lnTo>
                  <a:pt x="371" y="2"/>
                </a:lnTo>
                <a:lnTo>
                  <a:pt x="0" y="2"/>
                </a:lnTo>
                <a:close/>
              </a:path>
            </a:pathLst>
          </a:custGeom>
          <a:solidFill>
            <a:srgbClr val="1F4E35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086725" y="3048000"/>
            <a:ext cx="3533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4E35"/>
                </a:solidFill>
                <a:latin typeface="Microsoft YaHei"/>
                <a:ea typeface="Microsoft YaHei"/>
              </a:rPr>
              <a:t>我们有什么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086725" y="3419475"/>
            <a:ext cx="353377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333333"/>
                </a:solidFill>
                <a:latin typeface="Microsoft YaHei"/>
                <a:ea typeface="Microsoft YaHei"/>
              </a:rPr>
              <a:t>进场量、成交量、成交价、流向，四条链路都真实在我们的系统里跑。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→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这种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全链路真实数据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极难被复制。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71500" y="51054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政策公开信息梳理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集团数据资产盘点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458575" y="51054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3810000" y="16764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981450" y="179070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7581900" y="16764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753350" y="1790700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style={{ width: 1280, height: 720, background: '#FFFFFF', padding: '44px 60px 0 60px' }}&gt;&#10;    &lt;Text style={{ fontSize: 34, fontWeight: 'bold', color: '#062032', lineHeight: 1.28 }}&gt;&#10;        四类价值：降本、增效、增收、风控&#10;    &lt;/Text&gt;&#10;    &lt;Box style={{ width: 1160, height: 1, background: '#000000', marginTop: 12 }} /&gt;&#10;&#10;    &lt;Box style={{ flexDirection: 'row', gap: 20, marginTop: 22, height: 340 }}&gt;&#10;        &lt;Box style={{ flex: 1, flexDirection: 'column', background: '#1F4E35', padding: 22 }}&gt;&#10;            &lt;Text style={{ fontSize: 17, fontWeight: 'bold', color: '#9FD8BC', letterSpacing: 2 }}&gt;降本&lt;/Text&gt;&#10;            &lt;Text style={{ fontSize: 44, fontWeight: 'bold', color: '#FFFFFF', lineHeight: 1.05, marginTop: 12 }}&gt;百人日级&lt;/Text&gt;&#10;            &lt;Text style={{ fontSize: 17, color: '#C4DBCF', marginTop: 8 }}&gt;年化节约（日报汇总自动化）&lt;/Text&gt;&#10;            &lt;Box style={{ width: '100%', height: 1, background: 'rgba(255,255,255,0.22)', marginTop: 16 }} /&gt;&#10;            &lt;Text style={{ fontSize: 17, color: '#FFFFFF', lineHeight: 1.45, marginTop: 14 }}&gt;&#10;                现状 2 人 × 半日/天 手工汇总；报表编制再加 6 家 × 2 日/月&#10;            &lt;/Text&gt;&#10;        &lt;/Box&gt;&#10;        &lt;Box style={{ flex: 1, flexDirection: 'column', background: '#F2F5F3', padding: 22 }}&gt;&#10;            &lt;Text style={{ fontSize: 17, fontWeight: 'bold', color: '#7FA797', letterSpacing: 2 }}&gt;增效&lt;/Text&gt;&#10;            &lt;Text style={{ fontSize: 44, fontWeight: 'bold', color: '#1F4E35', lineHeight: 1.05, marginTop: 12 }}&gt;T+3 → T+1&lt;/Text&gt;&#10;            &lt;Text style={{ fontSize: 17, color: '#44546A', marginTop: 8 }}&gt;经营数据时效（缩短 2 天）&lt;/Text&gt;&#10;            &lt;Box style={{ width: '100%', height: 1, background: '#C4DBCF', marginTop: 16 }} /&gt;&#10;            &lt;Text style={{ fontSize: 17, color: '#062032', lineHeight: 1.45, marginTop: 14 }}&gt;&#10;                价格异常发现从&quot;周级&quot;提前到&quot;当日&quot;；口径争议查字典即明&#10;            &lt;/Text&gt;&#10;        &lt;/Box&gt;&#10;        &lt;Box style={{ flex: 1, flexDirection: 'column', background: '#F2F5F3', padding: 22 }}&gt;&#10;            &lt;Text style={{ fontSize: 17, fontWeight: 'bold', color: '#7FA797', letterSpacing: 2 }}&gt;增收&lt;/Text&gt;&#10;            &lt;Text style={{ fontSize: 44, fontWeight: 'bold', color: '#1F4E35', lineHeight: 1.05, marginTop: 12 }}&gt;百万级&lt;/Text&gt;&#10;            &lt;Text style={{ fontSize: 17, color: '#44546A', marginTop: 8 }}&gt;潜在收入机会（需市场验证）&lt;/Text&gt;&#10;            &lt;Box style={{ width: '100%', height: 1, background: '#C4DBCF', marginTop: 16 }} /&gt;&#10;            &lt;Text style={{ fontSize: 17, color: '#062032', lineHeight: 1.45, marginTop: 14 }}&gt;&#10;                价格指数形成区域参考 + 供需报告订阅 + 数据源授权&#10;            &lt;/Text&gt;&#10;        &lt;/Box&gt;&#10;        &lt;Box style={{ flex: 1, flexDirection: 'column', background: '#1F4E35', padding: 22 }}&gt;&#10;            &lt;Text style={{ fontSize: 17, fontWeight: 'bold', color: '#9FD8BC', letterSpacing: 2 }}&gt;风控&lt;/Text&gt;&#10;            &lt;Text style={{ fontSize: 44, fontWeight: 'bold', color: '#FFFFFF', lineHeight: 1.05, marginTop: 12 }}&gt;不可见→可控&lt;/Text&gt;&#10;            &lt;Text style={{ fontSize: 17, color: '#C4DBCF', marginTop: 8 }}&gt;合规与可信度状态&lt;/Text&gt;&#10;            &lt;Box style={{ width: '100%', height: 1, background: 'rgba(255,255,255,0.22)', marginTop: 16 }} /&gt;&#10;            &lt;Text style={{ fontSize: 17, color: '#FFFFFF', lineHeight: 1.45, marginTop: 14 }}&gt;&#10;                质量 6 维实测、3 项不达标已识别 —— 问题可见即可控&#10;            &lt;/Text&gt;&#10;        &lt;/Box&gt;&#10;    &lt;/Box&gt;&#10;&#10;    &lt;Box style={{ marginTop: 18, flexDirection: 'row', alignItems: 'center', gap: 16, background: '#F2F5F3', borderRadius: 4, padding: '16px 24px' }}&gt;&#10;        &lt;Box style={{ width: 4, height: 38, background: '#1F4E35' }} /&gt;&#10;        &lt;Text style={{ fontSize: 18, color: '#062032', lineHeight: 1.45, flex: 1 }}&gt;&#10;            口径说明：降本类为&lt;span style={{ fontWeight: 'bold' }}&gt;年化&lt;/span&gt;口径；增收类对外只给&lt;span style={{ fontWeight: 'bold' }}&gt;量级与区间，不做绝对承诺&lt;/span&gt;；无法量化项一律标注&quot;待评估&quot;。&#10;        &lt;/Text&gt;&#10;    &lt;/Box&gt;&#10;&#10;    &lt;Box style={{ flexDirection: 'row', justifyContent: 'space-between', alignItems: 'center', marginTop: 16 }}&gt;&#10;        &lt;Text style={{ fontSize: 14, color: '#808080' }}&gt;Source: 价值量化表（场景地图 + 指标字典 + 架构路线图交叉测算）&lt;/Text&gt;&#10;        &lt;Text style={{ fontSize: 14, color: '#808080' }}&gt;0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四类价值：降本、增效、增收、风控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571500" y="1257300"/>
            <a:ext cx="2619375" cy="3238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81050" y="14668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降本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2200275" cy="533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百人日级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81050" y="2390775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4DBCF"/>
                </a:solidFill>
                <a:latin typeface="Microsoft YaHei"/>
                <a:ea typeface="Microsoft YaHei"/>
              </a:rPr>
              <a:t>年化节约（日报汇总自动化）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781050" y="2743200"/>
            <a:ext cx="220027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81050" y="2886075"/>
            <a:ext cx="22002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现状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×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半日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天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手工汇总；报表编制再加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6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家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× 2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3381375" y="1257300"/>
            <a:ext cx="2619375" cy="3238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3590925" y="14668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增效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590925" y="1781175"/>
            <a:ext cx="220027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5000"/>
              </a:lnSpc>
            </a:pPr>
            <a:r>
              <a:rPr lang="en-US" sz="3300" b="1">
                <a:solidFill>
                  <a:srgbClr val="1F4E35"/>
                </a:solidFill>
                <a:latin typeface="Microsoft YaHei"/>
                <a:ea typeface="Microsoft YaHei"/>
              </a:rPr>
              <a:t>T+3 → T+1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590925" y="29146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经营数据时效（缩短</a:t>
            </a:r>
            <a:r>
              <a:rPr lang="en-US" sz="1275">
                <a:solidFill>
                  <a:srgbClr val="44546A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天）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590925" y="3267075"/>
            <a:ext cx="2200275" cy="9525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590925" y="3409950"/>
            <a:ext cx="22002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价格异常发现从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周级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提前到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当日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；口径争议查字典即明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191250" y="1257300"/>
            <a:ext cx="2619375" cy="3238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400800" y="14668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增收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400800" y="1781175"/>
            <a:ext cx="2200275" cy="5334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3300" b="1">
                <a:solidFill>
                  <a:srgbClr val="1F4E35"/>
                </a:solidFill>
                <a:latin typeface="Microsoft YaHei"/>
                <a:ea typeface="Microsoft YaHei"/>
              </a:rPr>
              <a:t>百万级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400800" y="2390775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Microsoft YaHei"/>
                <a:ea typeface="Microsoft YaHei"/>
              </a:rPr>
              <a:t>潜在收入机会（需市场验证）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400800" y="2743200"/>
            <a:ext cx="2200275" cy="9525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400800" y="2886075"/>
            <a:ext cx="22002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价格指数形成区域参考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供需报告订阅</a:t>
            </a:r>
            <a:r>
              <a:rPr lang="en-US" sz="1275">
                <a:solidFill>
                  <a:srgbClr val="062032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062032"/>
                </a:solidFill>
                <a:latin typeface="Microsoft YaHei"/>
                <a:ea typeface="Microsoft YaHei"/>
              </a:rPr>
              <a:t>数据源授权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9001125" y="1257300"/>
            <a:ext cx="2619375" cy="3238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210675" y="14668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风控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210675" y="1781175"/>
            <a:ext cx="220027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不可见→可控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210675" y="29146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4DBCF"/>
                </a:solidFill>
                <a:latin typeface="Microsoft YaHei"/>
                <a:ea typeface="Microsoft YaHei"/>
              </a:rPr>
              <a:t>合规与可信度状态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9210675" y="3267075"/>
            <a:ext cx="2200275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210675" y="3409950"/>
            <a:ext cx="22002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质量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6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维实测、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3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项不达标已识别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问题可见即可控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571500" y="4667250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800100" y="4819650"/>
            <a:ext cx="38100" cy="3619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90600" y="4848225"/>
            <a:ext cx="104013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口径说明：降本类为</a:t>
            </a: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年化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口径；增收类对外只给</a:t>
            </a: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量级与区间，不做绝对承诺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；无法量化项一律标注</a:t>
            </a:r>
            <a:r>
              <a:rPr lang="en-US" sz="1350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待评估</a:t>
            </a:r>
            <a:r>
              <a:rPr lang="en-US" sz="1350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71500" y="5486400"/>
            <a:ext cx="406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价值量化表（场景地图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指标字典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架构路线图交叉测算）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458575" y="54864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style={{ width: 1280, height: 720, background: '#FFFFFF', padding: '44px 60px 0 60px' }}&gt;&#10;    &lt;Text style={{ fontSize: 34, fontWeight: 'bold', color: '#062032', lineHeight: 1.28 }}&gt;&#10;        从&quot;市场运营商&quot;到&quot;行业数据定价参考&quot;&#10;    &lt;/Text&gt;&#10;    &lt;Box style={{ width: 1160, height: 1, background: '#000000', marginTop: 12 }} /&gt;&#10;&#10;    &lt;Box style={{ flexDirection: 'row', gap: 30, marginTop: 34 }}&gt;&#10;        &lt;Box style={{ width: 700, flexDirection: 'column' }}&gt;&#10;            &lt;Box style={{ width: 700, flexDirection: 'row', justifyContent: 'space-between', marginBottom: 8 }}&gt;&#10;                &lt;Text style={{ fontSize: 16, fontWeight: 'bold', color: '#808080' }}&gt;有机会但暂不做&lt;/Text&gt;&#10;                &lt;Text style={{ fontSize: 16, fontWeight: 'bold', color: '#1F4E35' }}&gt;高价值 · 高可行 = 优先落地&lt;/Text&gt;&#10;            &lt;/Box&gt;&#10;            &lt;Box style={{ width: 700, height: 392, position: 'relative', background: '#F2F5F3' }}&gt;&#10;                &lt;Box style={{ position: 'absolute', top: 196, left: 0, width: 700, height: 1, background: '#C4DBCF' }} /&gt;&#10;                &lt;Box style={{ position: 'absolute', top: 0, left: 350, width: 1, height: 392, background: '#C4DBCF' }} /&gt;&#10;&#10;                &lt;Box style={{ position: 'absolute', top: 22, left: 22, width: 16, height: 16, borderRadius: 8, background: '#C4DBCF' }} /&gt;&#10;                &lt;Text style={{ position: 'absolute', top: 18, left: 46, fontSize: 17, fontWeight: 'bold', color: '#5A6B63' }}&gt;办公流程数字化&lt;/Text&gt;&#10;                &lt;Text style={{ position: 'absolute', top: 44, left: 46, fontSize: 15, color: '#808080' }}&gt;与数据主线无关&lt;/Text&gt;&#10;&#10;                &lt;Box style={{ position: 'absolute', top: 116, left: 22, width: 18, height: 18, borderRadius: 9, background: '#7FB89E' }} /&gt;&#10;                &lt;Text style={{ position: 'absolute', top: 112, left: 48, fontSize: 17, fontWeight: 'bold', color: '#3A6B54' }}&gt;商户满意度调研&lt;/Text&gt;&#10;                &lt;Text style={{ position: 'absolute', top: 138, left: 48, fontSize: 15, color: '#808080' }}&gt;属业务运营，非数据产品&lt;/Text&gt;&#10;&#10;                &lt;Box style={{ position: 'absolute', top: 30, left: 386, width: 24, height: 24, borderRadius: 12, background: '#1F4E35' }} /&gt;&#10;                &lt;Text style={{ position: 'absolute', top: 22, left: 418, fontSize: 19, fontWeight: 'bold', color: '#1F4E35' }}&gt;行业价格指数发布&lt;/Text&gt;&#10;                &lt;Text style={{ position: 'absolute', top: 48, left: 418, fontSize: 15, color: '#44546A' }}&gt;战略主线 · 中远期&lt;/Text&gt;&#10;&#10;                &lt;Box style={{ position: 'absolute', top: 96, left: 452, width: 16, height: 16, borderRadius: 8, background: '#5A8E77' }} /&gt;&#10;                &lt;Text style={{ position: 'absolute', top: 92, left: 476, fontSize: 17, fontWeight: 'bold', color: '#3A6B54' }}&gt;供应链金融服务&lt;/Text&gt;&#10;&#10;                &lt;Box style={{ position: 'absolute', top: 142, left: 420, width: 16, height: 16, borderRadius: 8, background: '#5A8E77' }} /&gt;&#10;                &lt;Text style={{ position: 'absolute', top: 138, left: 444, fontSize: 17, fontWeight: 'bold', color: '#3A6B54' }}&gt;跨区域产销匹配&lt;/Text&gt;&#10;&#10;                &lt;Box style={{ position: 'absolute', top: 296, left: 96, width: 16, height: 16, borderRadius: 8, background: '#7FA797' }} /&gt;&#10;                &lt;Text style={{ position: 'absolute', top: 292, left: 120, fontSize: 17, fontWeight: 'bold', color: '#44546A' }}&gt;报表自动分发&lt;/Text&gt;&#10;&#10;                &lt;Box style={{ position: 'absolute', top: 250, left: 214, width: 16, height: 16, borderRadius: 8, background: '#7FA797' }} /&gt;&#10;                &lt;Text style={{ position: 'absolute', top: 246, left: 238, fontSize: 17, fontWeight: 'bold', color: '#44546A' }}&gt;冷库温控看板&lt;/Text&gt;&#10;&#10;                &lt;Box style={{ position: 'absolute', top: 340, left: 336, width: 16, height: 16, borderRadius: 8, background: '#7FA797' }} /&gt;&#10;                &lt;Text style={{ position: 'absolute', top: 336, left: 360, fontSize: 17, fontWeight: 'bold', color: '#44546A' }}&gt;招采价格对比&lt;/Text&gt;&#10;&#10;                &lt;Box style={{ position: 'absolute', top: 216, left: 452, width: 32, height: 32, borderRadius: 16, background: '#062032' }} /&gt;&#10;                &lt;Text style={{ position: 'absolute', top: 224, left: 494, fontSize: 18, fontWeight: 'bold', color: '#062032' }}&gt;经营驾驶舱&lt;/Text&gt;&#10;                &lt;Text style={{ position: 'absolute', top: 248, left: 494, fontSize: 15, color: '#44546A' }}&gt;优先落地&lt;/Text&gt;&#10;&#10;                &lt;Box style={{ position: 'absolute', top: 296, left: 244, width: 28, height: 28, borderRadius: 14, background: '#062032' }} /&gt;&#10;                &lt;Text style={{ position: 'absolute', top: 280, left: 256, fontSize: 18, fontWeight: 'bold', color: '#062032' }}&gt;经营日报自动化&lt;/Text&gt;&#10;&#10;                &lt;Text style={{ position: 'absolute', top: 356, left: 6, fontSize: 15, color: '#808080' }}&gt;低价值 · 低可行&lt;/Text&gt;&#10;                &lt;Box style={{ position: 'absolute', top: 342, left: 222, width: 120, height: 24, background: '#EAEFEC', borderRadius: 3 }} /&gt;&#10;                &lt;Text style={{ position: 'absolute', top: 345, left: 232, fontSize: 15, fontWeight: 'bold', color: '#7FA797' }}&gt;低价值 · 高可行&lt;/Text&gt;&#10;            &lt;/Box&gt;&#10;            &lt;Box style={{ flexDirection: 'row', justifyContent: 'space-between', marginTop: 8 }}&gt;&#10;                &lt;Text style={{ fontSize: 15, color: '#808080' }}&gt;低 ← 政策契合度&lt;/Text&gt;&#10;                &lt;Text style={{ fontSize: 15, color: '#808080' }}&gt;业务价值：低 → 高&lt;/Text&gt;&#10;            &lt;/Box&gt;&#10;        &lt;/Box&gt;&#10;&#10;        &lt;Box style={{ flex: 1, flexDirection: 'column' }}&gt;&#10;            &lt;Box style={{ flexDirection: 'column', background: '#062032', padding: 22 }}&gt;&#10;                &lt;Text style={{ fontSize: 16, fontWeight: 'bold', color: '#9FC7B4', letterSpacing: 2 }}&gt;最有想象空间的一件事&lt;/Text&gt;&#10;                &lt;Text style={{ fontSize: 26, fontWeight: 'bold', color: '#FFFFFF', lineHeight: 1.3, marginTop: 12 }}&gt;&#10;                    让我们的价格&lt;Box style={{ height: 0 }} /&gt;成为行业参考价&#10;                &lt;/Text&gt;&#10;                &lt;Text style={{ fontSize: 18, color: '#C4DBCF', lineHeight: 1.5, marginTop: 14 }}&gt;&#10;                    指数一旦被行业引用，我们就不再只是&quot;收租的市场&quot;，&#10;                    而是&lt;span style={{ color: '#FFFFFF', fontWeight: 'bold' }}&gt;定义价格的人&lt;/span&gt;。&#10;                &lt;/Text&gt;&#10;            &lt;/Box&gt;&#10;&#10;            &lt;Box style={{ flexDirection: 'column', marginTop: 18, borderLeft: '2px solid #1F4E35', paddingLeft: 16 }}&gt;&#10;                &lt;Text style={{ fontSize: 19, fontWeight: 'bold', color: '#1F4E35' }}&gt;但必须说清前置&lt;/Text&gt;&#10;                &lt;Text style={{ fontSize: 18, color: '#333333', lineHeight: 1.5, marginTop: 10 }}&gt;&#10;                    单位统一 → 跨区域数据源 → 指数方法论 → 公信力建设。&#10;                    &lt;Box style={{ height: 0 }} /&gt;&#10;                    &lt;span style={{ color: '#808080' }}&gt;不能跳过前置直接发布指数。&lt;/span&gt;&#10;                &lt;/Text&gt;&#10;            &lt;/Box&gt;&#10;        &lt;/Box&gt;&#10;    &lt;/Box&gt;&#10;&#10;    &lt;Box style={{ flexDirection: 'row', justifyContent: 'space-between', alignItems: 'center', marginTop: 18 }}&gt;&#10;        &lt;Text style={{ fontSize: 14, color: '#808080' }}&gt;Source: 应用场景地图四象限（业务价值 × 落地可行性） ｜ 共 12 个候选场景&lt;/Text&gt;&#10;        &lt;Text style={{ fontSize: 14, color: '#808080' }}&gt;0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市场运营商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到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行业数据定价参考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71500" y="13716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08080"/>
                </a:solidFill>
                <a:latin typeface="Microsoft YaHei"/>
                <a:ea typeface="Microsoft YaHei"/>
              </a:rPr>
              <a:t>有机会但暂不做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343525" y="1371600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E35"/>
                </a:solidFill>
                <a:latin typeface="Microsoft YaHei"/>
                <a:ea typeface="Microsoft YaHei"/>
              </a:rPr>
              <a:t>高价值</a:t>
            </a:r>
            <a:r>
              <a:rPr lang="en-US" sz="1200" b="1">
                <a:solidFill>
                  <a:srgbClr val="1F4E35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1F4E35"/>
                </a:solidFill>
                <a:latin typeface="Microsoft YaHei"/>
                <a:ea typeface="Microsoft YaHei"/>
              </a:rPr>
              <a:t>高可行</a:t>
            </a:r>
            <a:r>
              <a:rPr lang="en-US" sz="1200" b="1">
                <a:solidFill>
                  <a:srgbClr val="1F4E35"/>
                </a:solidFill>
                <a:latin typeface="Microsoft YaHei"/>
                <a:ea typeface="Microsoft YaHei"/>
              </a:rPr>
              <a:t> = </a:t>
            </a:r>
            <a:r>
              <a:rPr lang="zh-CN" sz="1200" b="1">
                <a:solidFill>
                  <a:srgbClr val="1F4E35"/>
                </a:solidFill>
                <a:latin typeface="Microsoft YaHei"/>
                <a:ea typeface="Microsoft YaHei"/>
              </a:rPr>
              <a:t>优先落地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71500" y="544830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低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←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政策契合度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10275" y="544830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业务价值：低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524750" y="1371600"/>
            <a:ext cx="4095750" cy="18669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734300" y="1581150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9FC7B4"/>
                </a:solidFill>
                <a:latin typeface="Microsoft YaHei"/>
                <a:ea typeface="Microsoft YaHei"/>
              </a:rPr>
              <a:t>最有想象空间的一件事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734300" y="1885950"/>
            <a:ext cx="36766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让我们的价格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成为行业参考价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734300" y="2409825"/>
            <a:ext cx="3676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指数一旦被行业引用，我们就不再只是</a:t>
            </a: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收租的市场</a:t>
            </a: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而是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定义价格的人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524750" y="3409950"/>
            <a:ext cx="4114800" cy="933450"/>
          </a:xfrm>
          <a:custGeom>
            <a:pathLst>
              <a:path w="432" h="98">
                <a:moveTo>
                  <a:pt x="0" y="0"/>
                </a:moveTo>
                <a:lnTo>
                  <a:pt x="2" y="0"/>
                </a:lnTo>
                <a:lnTo>
                  <a:pt x="2" y="98"/>
                </a:lnTo>
                <a:lnTo>
                  <a:pt x="0" y="98"/>
                </a:lnTo>
                <a:close/>
              </a:path>
            </a:pathLst>
          </a:custGeom>
          <a:solidFill>
            <a:srgbClr val="1F4E35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696200" y="3409950"/>
            <a:ext cx="392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E35"/>
                </a:solidFill>
                <a:latin typeface="Microsoft YaHei"/>
                <a:ea typeface="Microsoft YaHei"/>
              </a:rPr>
              <a:t>但必须说清前置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96200" y="3724275"/>
            <a:ext cx="3924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单位统一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跨区域数据源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指数方法论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公信力建设。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不能跳过前置直接发布指数。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71500" y="5791200"/>
            <a:ext cx="460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应用场景地图四象限（业务价值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落地可行性）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12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个候选场景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458575" y="57912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1500" y="1638300"/>
            <a:ext cx="6667500" cy="37338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571500" y="3505200"/>
            <a:ext cx="6667500" cy="9525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3905250" y="1638300"/>
            <a:ext cx="9525" cy="3733800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781050" y="18478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009650" y="18097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A6B63"/>
                </a:solidFill>
                <a:latin typeface="Microsoft YaHei"/>
                <a:ea typeface="Microsoft YaHei"/>
              </a:rPr>
              <a:t>办公流程数字化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009650" y="20574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与数据主线无关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81050" y="2743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028700" y="27051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6B54"/>
                </a:solidFill>
                <a:latin typeface="Microsoft YaHei"/>
                <a:ea typeface="Microsoft YaHei"/>
              </a:rPr>
              <a:t>商户满意度调研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28700" y="29527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属业务运营，非数据产品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4248150" y="1924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552950" y="18478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E35"/>
                </a:solidFill>
                <a:latin typeface="Microsoft YaHei"/>
                <a:ea typeface="Microsoft YaHei"/>
              </a:rPr>
              <a:t>行业价格指数发布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552950" y="20955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战略主线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中远期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876800" y="255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5A8E77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105400" y="25146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6B54"/>
                </a:solidFill>
                <a:latin typeface="Microsoft YaHei"/>
                <a:ea typeface="Microsoft YaHei"/>
              </a:rPr>
              <a:t>供应链金融服务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572000" y="29908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5A8E77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800600" y="29527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6B54"/>
                </a:solidFill>
                <a:latin typeface="Microsoft YaHei"/>
                <a:ea typeface="Microsoft YaHei"/>
              </a:rPr>
              <a:t>跨区域产销匹配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1485900" y="4457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7FA797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714500" y="44196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报表自动分发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2609850" y="40195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7FA797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2838450" y="39814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冷库温控看板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3771900" y="48768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7FA797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000500" y="48387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招采价格对比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4876800" y="3695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276850" y="3771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276850" y="40005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优先落地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2895600" y="44577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3009900" y="43053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经营日报自动化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28650" y="5029200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低价值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低可行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2686050" y="4895850"/>
            <a:ext cx="1143000" cy="228600"/>
          </a:xfrm>
          <a:prstGeom prst="roundRect">
            <a:avLst>
              <a:gd name="adj" fmla="val 12500"/>
            </a:avLst>
          </a:prstGeom>
          <a:solidFill>
            <a:srgbClr val="EAEFEC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2781300" y="49244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7FA797"/>
                </a:solidFill>
                <a:latin typeface="Microsoft YaHei"/>
                <a:ea typeface="Microsoft YaHei"/>
              </a:rPr>
              <a:t>低价值</a:t>
            </a:r>
            <a:r>
              <a:rPr lang="en-US" sz="1125" b="1">
                <a:solidFill>
                  <a:srgbClr val="7FA797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7FA797"/>
                </a:solidFill>
                <a:latin typeface="Microsoft YaHei"/>
                <a:ea typeface="Microsoft YaHei"/>
              </a:rPr>
              <a:t>高可行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 descr="&lt;Slide style={{ width: 1280, height: 720, background: '#062032', padding: 0, position: 'relative' }}&gt;&#10;    &lt;Box style={{ position: 'absolute', top: 0, left: 0, width: 1280, height: 720, flexDirection: 'row', alignItems: 'center' }}&gt;&#10;        &lt;Box style={{ width: 470, justifyContent: 'center', alignItems: 'flex-start' }}&gt;&#10;            &lt;Text style={{ fontSize: 260, fontWeight: 'bold', color: 'rgba(255,255,255,0.10)', lineHeight: 1, marginLeft: 44 }}&gt;03&lt;/Text&gt;&#10;        &lt;/Box&gt;&#10;        &lt;Box style={{ width: 1, height: 240, background: 'rgba(255,255,255,0.18)' }} /&gt;&#10;        &lt;Box style={{ flex: 1, flexDirection: 'column', gap: 18, paddingLeft: 64 }}&gt;&#10;            &lt;Text style={{ fontSize: 15, color: '#7FA797', letterSpacing: 4 }}&gt;PART THREE&lt;/Text&gt;&#10;            &lt;Text style={{ fontSize: 48, fontWeight: 'bold', color: '#FFFFFF', lineHeight: 1.25 }}&gt;&#10;                路径：先补地基，&lt;Box style={{ height: 0 }} /&gt;再上价值&#10;            &lt;/Text&gt;&#10;            &lt;Text style={{ fontSize: 20, color: 'rgba(255,255,255,0.55)', lineHeight: 1.5, width: 560 }}&gt;&#10;                Roadmap — 不搞大平台，分三步走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19100" y="1943100"/>
            <a:ext cx="30575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0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476750" y="2286000"/>
            <a:ext cx="9525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095875" y="2657475"/>
            <a:ext cx="709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7FA797"/>
                </a:solidFill>
                <a:latin typeface="Microsoft YaHei"/>
                <a:ea typeface="Microsoft YaHei"/>
              </a:rPr>
              <a:t>PART THREE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095875" y="3000375"/>
            <a:ext cx="7096125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路径：先补地基，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再上价值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095875" y="3857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Roadmap — </a:t>
            </a:r>
            <a:r>
              <a:rPr lang="zh-CN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不搞大平台，分三步走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FFFFFF', padding: '44px 60px 0 60px' }}&gt;&#10;    &lt;Text style={{ fontSize: 34, fontWeight: 'bold', color: '#062032', lineHeight: 1.28 }}&gt;&#10;        先补汇存治管地基，再上服用模价值层&#10;    &lt;/Text&gt;&#10;    &lt;Box style={{ width: 1160, height: 1, background: '#000000', marginTop: 12 }} /&gt;&#10;&#10;    &lt;Box style={{ marginTop: 26, flexDirection: 'row', justifyContent: 'center' }}&gt;&#10;        &lt;Box style={{ width: 0, height: 0, borderLeft: '190px solid transparent', borderRight: '190px solid transparent', borderBottom: '86px solid #062032' }} /&gt;&#10;    &lt;/Box&gt;&#10;    &lt;Box style={{ justifyContent: 'center', alignItems: 'center', marginTop: -58 }}&gt;&#10;        &lt;Text style={{ fontSize: 24, fontWeight: 'bold', color: '#FFFFFF' }}&gt;使命：成为区域农产品行业核心数据源&lt;/Text&gt;&#10;    &lt;/Box&gt;&#10;&#10;    &lt;Box style={{ marginTop: 26, height: 52, background: '#1F4E35', justifyContent: 'center', alignItems: 'center' }}&gt;&#10;        &lt;Text style={{ fontSize: 24, fontWeight: 'bold', color: '#FFFFFF' }}&gt;&#10;            战略目标：三年内建成可信、可用、可变现的集团数据资产体系&#10;        &lt;/Text&gt;&#10;    &lt;/Box&gt;&#10;&#10;    &lt;Box style={{ flexDirection: 'row', gap: 18, marginTop: 16, height: 172 }}&gt;&#10;        &lt;Box style={{ flex: 1, background: '#2F6A4E', padding: '16px 18px' }}&gt;&#10;            &lt;Text style={{ fontSize: 21, fontWeight: 'bold', color: '#FFFFFF' }}&gt;统一采集&lt;/Text&gt;&#10;            &lt;Text style={{ fontSize: 17, color: '#D3E6DC', lineHeight: 1.45, marginTop: 10 }}&gt;&#10;                6 家市场 + 7 个 Excel 台账统一入口，替代手工汇总&#10;            &lt;/Text&gt;&#10;        &lt;/Box&gt;&#10;        &lt;Box style={{ flex: 1, background: '#2F6A4E', padding: '16px 18px' }}&gt;&#10;            &lt;Text style={{ fontSize: 21, fontWeight: 'bold', color: '#FFFFFF' }}&gt;统一定义&lt;/Text&gt;&#10;            &lt;Text style={{ fontSize: 17, color: '#D3E6DC', lineHeight: 1.45, marginTop: 10 }}&gt;&#10;                10 个核心指标口径一致，单位统一，一数一源&#10;            &lt;/Text&gt;&#10;        &lt;/Box&gt;&#10;        &lt;Box style={{ flex: 1, background: '#2F6A4E', padding: '16px 18px' }}&gt;&#10;            &lt;Text style={{ fontSize: 21, fontWeight: 'bold', color: '#FFFFFF' }}&gt;统一权责&lt;/Text&gt;&#10;            &lt;Text style={{ fontSize: 17, color: '#D3E6DC', lineHeight: 1.45, marginTop: 10 }}&gt;&#10;                每个数据集一个具名 Owner，权属关系写清楚&#10;            &lt;/Text&gt;&#10;        &lt;/Box&gt;&#10;        &lt;Box style={{ flex: 1, background: '#2F6A4E', padding: '16px 18px' }}&gt;&#10;            &lt;Text style={{ fontSize: 21, fontWeight: 'bold', color: '#FFFFFF' }}&gt;统一出口&lt;/Text&gt;&#10;            &lt;Text style={{ fontSize: 17, color: '#D3E6DC', lineHeight: 1.45, marginTop: 10 }}&gt;&#10;                对外数据一律经合规校验后输出，先聚合后明细&#10;            &lt;/Text&gt;&#10;        &lt;/Box&gt;&#10;    &lt;/Box&gt;&#10;&#10;    &lt;Box style={{ marginTop: 16, height: 46, background: '#7FB89E', justifyContent: 'center', alignItems: 'center' }}&gt;&#10;        &lt;Text style={{ fontSize: 21, fontWeight: 'bold', color: '#062032' }}&gt;&#10;            战略举措：建地基 → 治数据 → 出产品 → 定标准&#10;        &lt;/Text&gt;&#10;    &lt;/Box&gt;&#10;&#10;    &lt;Box style={{ marginTop: 14, flexDirection: 'row', justifyContent: 'space-between', alignItems: 'center' }}&gt;&#10;        &lt;Text style={{ fontSize: 14, color: '#808080' }}&gt;Source: 架构蓝图结论 ｜ Footnote: 明确不建数据中台（体量不支持，且尚无统一数据组织）&lt;/Text&gt;&#10;        &lt;Text style={{ fontSize: 14, color: '#808080' }}&gt;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先补汇存治管地基，再上服用模价值层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096000" y="1295400"/>
            <a:ext cx="3619500" cy="819150"/>
          </a:xfrm>
          <a:custGeom>
            <a:pathLst>
              <a:path w="380" h="86">
                <a:moveTo>
                  <a:pt x="0" y="0"/>
                </a:moveTo>
                <a:lnTo>
                  <a:pt x="190" y="0"/>
                </a:lnTo>
                <a:lnTo>
                  <a:pt x="190" y="0"/>
                </a:lnTo>
                <a:lnTo>
                  <a:pt x="0" y="8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0" y="1295400"/>
            <a:ext cx="3619500" cy="819150"/>
          </a:xfrm>
          <a:custGeom>
            <a:pathLst>
              <a:path w="380" h="86">
                <a:moveTo>
                  <a:pt x="190" y="0"/>
                </a:moveTo>
                <a:lnTo>
                  <a:pt x="380" y="0"/>
                </a:lnTo>
                <a:lnTo>
                  <a:pt x="380" y="86"/>
                </a:lnTo>
                <a:lnTo>
                  <a:pt x="190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0" y="1295400"/>
            <a:ext cx="3619500" cy="819150"/>
          </a:xfrm>
          <a:custGeom>
            <a:pathLst>
              <a:path w="380" h="86">
                <a:moveTo>
                  <a:pt x="190" y="0"/>
                </a:moveTo>
                <a:lnTo>
                  <a:pt x="190" y="0"/>
                </a:lnTo>
                <a:lnTo>
                  <a:pt x="380" y="86"/>
                </a:lnTo>
                <a:lnTo>
                  <a:pt x="0" y="86"/>
                </a:lnTo>
                <a:close/>
              </a:path>
            </a:pathLst>
          </a:custGeom>
          <a:solidFill>
            <a:srgbClr val="06203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152900" y="742950"/>
            <a:ext cx="3886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使命：成为区域农产品行业核心数据源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71500" y="1266825"/>
            <a:ext cx="11049000" cy="4953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895600" y="1381125"/>
            <a:ext cx="6400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战略目标：三年内建成可信、可用、可变现的集团数据资产体系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1914525"/>
            <a:ext cx="2638425" cy="163830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2950" y="2066925"/>
            <a:ext cx="2295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统一采集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2950" y="2409825"/>
            <a:ext cx="22955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6 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家市场</a:t>
            </a: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 + 7 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个</a:t>
            </a: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 Excel 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台账统一入口，替代手工汇总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381375" y="1914525"/>
            <a:ext cx="2628900" cy="163830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552825" y="20669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统一定义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552825" y="2409825"/>
            <a:ext cx="2286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10 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个核心指标口径一致，单位统一，一数一源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181725" y="1914525"/>
            <a:ext cx="2638425" cy="163830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53175" y="2066925"/>
            <a:ext cx="2295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统一权责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353175" y="2409825"/>
            <a:ext cx="22955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每个数据集一个具名</a:t>
            </a: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 Owner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，权属关系写清楚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991600" y="1914525"/>
            <a:ext cx="2628900" cy="163830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163050" y="20669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统一出口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163050" y="2409825"/>
            <a:ext cx="2286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对外数据一律经合规校验后输出，先聚合后明细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3705225"/>
            <a:ext cx="11049000" cy="438150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914775" y="3800475"/>
            <a:ext cx="436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战略举措：建地基</a:t>
            </a:r>
            <a:r>
              <a:rPr lang="en-US" sz="1575" b="1">
                <a:solidFill>
                  <a:srgbClr val="062032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治数据</a:t>
            </a:r>
            <a:r>
              <a:rPr lang="en-US" sz="1575" b="1">
                <a:solidFill>
                  <a:srgbClr val="062032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出产品</a:t>
            </a:r>
            <a:r>
              <a:rPr lang="en-US" sz="1575" b="1">
                <a:solidFill>
                  <a:srgbClr val="062032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062032"/>
                </a:solidFill>
                <a:latin typeface="Microsoft YaHei"/>
                <a:ea typeface="Microsoft YaHei"/>
              </a:rPr>
              <a:t>定标准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71500" y="4276725"/>
            <a:ext cx="551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架构蓝图结论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明确不建数据中台（体量不支持，且尚无统一数据组织）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458575" y="427672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 style={{ width: 1280, height: 720, background: '#FFFFFF', padding: '44px 60px 0 60px' }}&gt;&#10;    &lt;Text style={{ fontSize: 34, fontWeight: 'bold', color: '#062032', lineHeight: 1.28 }}&gt;&#10;        一期 6 个月 / 二期 8 个月 / 三期 12 个月&#10;    &lt;/Text&gt;&#10;    &lt;Box style={{ width: 1160, height: 1, background: '#000000', marginTop: 12 }} /&gt;&#10;&#10;    &lt;Box style={{ marginTop: 30, flexDirection: 'row', alignItems: 'flex-end', height: 26 }}&gt;&#10;        &lt;Text style={{ fontSize: 15, color: '#808080', width: 130 }}&gt;阶段&lt;/Text&gt;&#10;        &lt;Box style={{ flex: 1, flexDirection: 'row' }}&gt;&#10;            &lt;Box style={{ flex: 6 }}&gt;&lt;Text style={{ fontSize: 15, color: '#808080' }}&gt;第 1 – 6 月&lt;/Text&gt;&lt;/Box&gt;&#10;            &lt;Box style={{ flex: 8 }}&gt;&lt;Text style={{ fontSize: 15, color: '#808080' }}&gt;第 7 – 14 月&lt;/Text&gt;&lt;/Box&gt;&#10;            &lt;Box style={{ flex: 12 }}&gt;&lt;Text style={{ fontSize: 15, color: '#808080' }}&gt;第 15 – 26 月&lt;/Text&gt;&lt;/Box&gt;&#10;        &lt;/Box&gt;&#10;    &lt;/Box&gt;&#10;&#10;    &lt;Box style={{ height: 1, background: '#E7E6E6', marginTop: 8 }} /&gt;&#10;&#10;    &lt;Box style={{ marginTop: 26, flexDirection: 'row', alignItems: 'center' }}&gt;&#10;        &lt;Box style={{ width: 130, flexDirection: 'column' }}&gt;&#10;            &lt;Text style={{ fontSize: 21, fontWeight: 'bold', color: '#1F4E35' }}&gt;一期&lt;/Text&gt;&#10;            &lt;Text style={{ fontSize: 16, color: '#808080', marginTop: 6 }}&gt;地基&lt;/Text&gt;&#10;        &lt;/Box&gt;&#10;        &lt;Box style={{ flex: 1 }}&gt;&#10;            &lt;Box style={{ width: '30%', height: 54, background: '#1F4E35', justifyContent: 'center', paddingLeft: 18 }}&gt;&#10;                &lt;Text style={{ fontSize: 19, fontWeight: 'bold', color: '#FFFFFF' }}&gt;采集 + 存储 + 目录雏形&lt;/Text&gt;&#10;            &lt;/Box&gt;&#10;        &lt;/Box&gt;&#10;    &lt;/Box&gt;&#10;&#10;    &lt;Box style={{ marginTop: 22, flexDirection: 'row', alignItems: 'center' }}&gt;&#10;        &lt;Box style={{ width: 130, flexDirection: 'column' }}&gt;&#10;            &lt;Text style={{ fontSize: 21, fontWeight: 'bold', color: '#2F6A4E' }}&gt;二期&lt;/Text&gt;&#10;            &lt;Text style={{ fontSize: 16, color: '#808080', marginTop: 6 }}&gt;治理&lt;/Text&gt;&#10;        &lt;/Box&gt;&#10;        &lt;Box style={{ flex: 1, flexDirection: 'row' }}&gt;&#10;            &lt;Box style={{ width: '30%' }} /&gt;&#10;            &lt;Box style={{ width: '40%', height: 54, background: '#2F6A4E', justifyContent: 'center', paddingLeft: 18 }}&gt;&#10;                &lt;Text style={{ fontSize: 19, fontWeight: 'bold', color: '#FFFFFF' }}&gt;治理 + 主数据 + 权限 + 服务&lt;/Text&gt;&#10;            &lt;/Box&gt;&#10;        &lt;/Box&gt;&#10;    &lt;/Box&gt;&#10;&#10;    &lt;Box style={{ marginTop: 22, flexDirection: 'row', alignItems: 'center' }}&gt;&#10;        &lt;Box style={{ width: 130, flexDirection: 'column' }}&gt;&#10;            &lt;Text style={{ fontSize: 21, fontWeight: 'bold', color: '#7FA797' }}&gt;三期&lt;/Text&gt;&#10;            &lt;Text style={{ fontSize: 16, color: '#808080', marginTop: 6 }}&gt;价值&lt;/Text&gt;&#10;        &lt;/Box&gt;&#10;        &lt;Box style={{ flex: 1, flexDirection: 'row' }}&gt;&#10;            &lt;Box style={{ width: '70%' }} /&gt;&#10;            &lt;Box style={{ width: '30%', height: 54, background: '#7FB89E', justifyContent: 'center', paddingLeft: 18 }}&gt;&#10;                &lt;Text style={{ fontSize: 19, fontWeight: 'bold', color: '#062032' }}&gt;应用 + 模型&lt;/Text&gt;&#10;            &lt;/Box&gt;&#10;        &lt;/Box&gt;&#10;    &lt;/Box&gt;&#10;&#10;    &lt;Box style={{ marginTop: 22, flexDirection: 'row', alignItems: 'center' }}&gt;&#10;        &lt;Box style={{ width: 130 }}&gt;&lt;Box style={{ width: 18, height: 18, background: '#1F4E35', transform: 'rotate(45deg)' }} /&gt;&lt;/Box&gt;&#10;        &lt;Box style={{ flex: 1, background: '#F2F5F3', borderRadius: 4, padding: '16px 22px' }}&gt;&#10;            &lt;Text style={{ fontSize: 19, color: '#062032', lineHeight: 1.45 }}&gt;&#10;                &lt;span style={{ fontWeight: 'bold' }}&gt;里程碑：一期成果包 3 个月内交付&lt;/span&gt; —— 作为后续投入的验证依据，也是本方案最关键的信心锚点。&#10;            &lt;/Text&gt;&#10;        &lt;/Box&gt;&#10;    &lt;/Box&gt;&#10;&#10;    &lt;Box style={{ flexDirection: 'row', justifyContent: 'space-between', alignItems: 'center', marginTop: 24 }}&gt;&#10;        &lt;Text style={{ fontSize: 14, color: '#808080' }}&gt;Source: 实施路线图（架构阶段产出） ｜ Footnote: 周期为工作量月，不含招标与采购等待期&lt;/Text&gt;&#10;        &lt;Text style={{ fontSize: 14, color: '#808080' }}&gt;1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一期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个月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/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二期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8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个月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/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三期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12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809750" y="1409700"/>
            <a:ext cx="226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1 – 6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076700" y="1409700"/>
            <a:ext cx="3019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7 – 14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096125" y="14097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 15 – 26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1657350"/>
            <a:ext cx="11049000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19240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4E35"/>
                </a:solidFill>
                <a:latin typeface="Microsoft YaHei"/>
                <a:ea typeface="Microsoft YaHei"/>
              </a:rPr>
              <a:t>一期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22288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地基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1809750" y="1914525"/>
            <a:ext cx="2943225" cy="5143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981200" y="2066925"/>
            <a:ext cx="2771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采集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存储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目录雏形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26479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F6A4E"/>
                </a:solidFill>
                <a:latin typeface="Microsoft YaHei"/>
                <a:ea typeface="Microsoft YaHei"/>
              </a:rPr>
              <a:t>二期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752975" y="2638425"/>
            <a:ext cx="3924300" cy="51435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924425" y="2790825"/>
            <a:ext cx="3752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治理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主数据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权限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3371850"/>
            <a:ext cx="1238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7FA797"/>
                </a:solidFill>
                <a:latin typeface="Microsoft YaHei"/>
                <a:ea typeface="Microsoft YaHei"/>
              </a:rPr>
              <a:t>三期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36766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价值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677275" y="3362325"/>
            <a:ext cx="2943225" cy="514350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848725" y="3514725"/>
            <a:ext cx="2771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应用</a:t>
            </a:r>
            <a:r>
              <a:rPr lang="en-US" sz="1425" b="1">
                <a:solidFill>
                  <a:srgbClr val="062032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1809750" y="4086225"/>
            <a:ext cx="9810750" cy="628650"/>
          </a:xfrm>
          <a:prstGeom prst="roundRect">
            <a:avLst>
              <a:gd name="adj" fmla="val 6061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019300" y="4238625"/>
            <a:ext cx="93916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里程碑：一期成果包</a:t>
            </a:r>
            <a:r>
              <a:rPr lang="en-US" sz="1425" b="1">
                <a:solidFill>
                  <a:srgbClr val="062032"/>
                </a:solidFill>
                <a:latin typeface="Microsoft YaHei"/>
                <a:ea typeface="Microsoft YaHei"/>
              </a:rPr>
              <a:t> 3 </a:t>
            </a: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个月内交付</a:t>
            </a:r>
            <a:r>
              <a:rPr lang="en-US" sz="1425">
                <a:solidFill>
                  <a:srgbClr val="062032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062032"/>
                </a:solidFill>
                <a:latin typeface="Microsoft YaHei"/>
                <a:ea typeface="Microsoft YaHei"/>
              </a:rPr>
              <a:t>作为后续投入的验证依据，也是本方案最关键的信心锚点。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4943475"/>
            <a:ext cx="5514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实施路线图（架构阶段产出）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周期为工作量月，不含招标与采购等待期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458575" y="49434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grpSp>
        <p:nvGrpSpPr>
          <p:cNvPr id="75" name=""/>
          <p:cNvGrpSpPr/>
          <p:nvPr/>
        </p:nvGrpSpPr>
        <p:grpSpPr>
          <a:xfrm rot="2700000" flipH="0" flipV="0">
            <a:off x="571500" y="4314825"/>
            <a:ext cx="171450" cy="171450"/>
            <a:chOff x="571500" y="4314825"/>
            <a:chExt cx="171450" cy="171450"/>
          </a:xfrm>
        </p:grpSpPr>
        <p:sp>
          <p:nvSpPr>
            <p:cNvPr id="76" name=""/>
            <p:cNvSpPr/>
            <p:nvPr/>
          </p:nvSpPr>
          <p:spPr>
            <a:xfrm rot="0" flipH="0" flipV="0">
              <a:off x="571500" y="4314825"/>
              <a:ext cx="171450" cy="171450"/>
            </a:xfrm>
            <a:prstGeom prst="rect">
              <a:avLst/>
            </a:prstGeom>
            <a:solidFill>
              <a:srgbClr val="1F4E35"/>
            </a:solidFill>
            <a:ln/>
          </p:spPr>
          <p:txBody>
            <a:bodyPr/>
            <a:p/>
          </p:txBody>
        </p:sp>
      </p:grp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7" name="" descr="&lt;Slide style={{ width: 1280, height: 720, background: '#FFFFFF', padding: '44px 60px 0 60px' }}&gt;&#10;    &lt;Text style={{ fontSize: 34, fontWeight: 'bold', color: '#062032', lineHeight: 1.28 }}&gt;&#10;        七道工序全景，本期建设&quot;汇存治管&quot;&#10;    &lt;/Text&gt;&#10;    &lt;Box style={{ width: 1160, height: 1, background: '#000000', marginTop: 12 }} /&gt;&#10;&#10;    &lt;Box style={{ flexDirection: 'row', justifyContent: 'space-between', marginTop: 22, marginBottom: 10 }}&gt;&#10;        &lt;Text style={{ fontSize: 16, fontWeight: 'bold', color: '#1F4E35' }}&gt;本期在建 / 规划（汇存治管）&lt;/Text&gt;&#10;        &lt;Text style={{ fontSize: 16, fontWeight: 'bold', color: '#808080' }}&gt;暂缓至二、三期（服用模）&lt;/Text&gt;&#10;    &lt;/Box&gt;&#10;&#10;    &lt;Box style={{ flexDirection: 'row', alignItems: 'center', height: 96, background: '#062032', paddingLeft: 0 }}&gt;&#10;        &lt;Box style={{ width: 130, justifyContent: 'center', alignItems: 'center', flexDirection: 'column' }}&gt;&#10;            &lt;Text style={{ fontSize: 30, fontWeight: 'bold', color: '#FFFFFF' }}&gt;汇&lt;/Text&gt;&#10;            &lt;Text style={{ fontSize: 15, color: '#9FC7B4', marginTop: 4 }}&gt;采集汇聚&lt;/Text&gt;&#10;        &lt;/Box&gt;&#10;        &lt;Box style={{ flex: 1, flexDirection: 'column' }}&gt;&#10;            &lt;Text style={{ fontSize: 20, fontWeight: 'bold', color: '#FFFFFF' }}&gt;统一采集：6 家市场 + 7 个 Excel 台账统一入口&lt;/Text&gt;&#10;            &lt;Text style={{ fontSize: 17, color: '#C4DBCF', marginTop: 8 }}&gt;消除 7 处纯手工汇总断点，数据一次进入、全程可溯&lt;/Text&gt;&#10;        &lt;/Box&gt;&#10;        &lt;Box style={{ width: 132, height: 34, background: '#7FB89E', borderRadius: 17, justifyContent: 'center', alignItems: 'center', marginRight: 22 }}&gt;&#10;            &lt;Text style={{ fontSize: 17, fontWeight: 'bold', color: '#062032' }}&gt;在建&lt;/Text&gt;&#10;        &lt;/Box&gt;&#10;    &lt;/Box&gt;&#10;&#10;    &lt;Box style={{ flexDirection: 'row', alignItems: 'center', height: 96, background: '#123A2A', marginTop: 8 }}&gt;&#10;        &lt;Box style={{ width: 130, justifyContent: 'center', alignItems: 'center', flexDirection: 'column' }}&gt;&#10;            &lt;Text style={{ fontSize: 30, fontWeight: 'bold', color: '#FFFFFF' }}&gt;存&lt;/Text&gt;&#10;            &lt;Text style={{ fontSize: 15, color: '#9FC7B4', marginTop: 4 }}&gt;存储计算&lt;/Text&gt;&#10;        &lt;/Box&gt;&#10;        &lt;Box style={{ flex: 1, flexDirection: 'column' }}&gt;&#10;            &lt;Text style={{ fontSize: 20, fontWeight: 'bold', color: '#FFFFFF' }}&gt;四层存储：ODS → DWD → DWS → ADS&lt;/Text&gt;&#10;            &lt;Text style={{ fontSize: 17, color: '#C4DBCF', marginTop: 8 }}&gt;不建中台——体量不支持，分层存储足够支撑当前规模&lt;/Text&gt;&#10;        &lt;/Box&gt;&#10;        &lt;Box style={{ width: 132, height: 34, background: '#7FB89E', borderRadius: 17, justifyContent: 'center', alignItems: 'center', marginRight: 22 }}&gt;&#10;            &lt;Text style={{ fontSize: 17, fontWeight: 'bold', color: '#062032' }}&gt;在建&lt;/Text&gt;&#10;        &lt;/Box&gt;&#10;    &lt;/Box&gt;&#10;&#10;    &lt;Box style={{ flexDirection: 'row', alignItems: 'center', height: 96, background: '#1F4E35', marginTop: 8 }}&gt;&#10;        &lt;Box style={{ width: 130, justifyContent: 'center', alignItems: 'center', flexDirection: 'column' }}&gt;&#10;            &lt;Text style={{ fontSize: 30, fontWeight: 'bold', color: '#FFFFFF' }}&gt;治&lt;/Text&gt;&#10;            &lt;Text style={{ fontSize: 15, color: '#C4DBCF', marginTop: 4 }}&gt;治理清洗&lt;/Text&gt;&#10;        &lt;/Box&gt;&#10;        &lt;Box style={{ flex: 1, flexDirection: 'column' }}&gt;&#10;            &lt;Text style={{ fontSize: 20, fontWeight: 'bold', color: '#FFFFFF' }}&gt;标准 + 质量规则集 + 主数据（商户 One ID）&lt;/Text&gt;&#10;            &lt;Text style={{ fontSize: 17, color: '#D3E6DC', marginTop: 8 }}&gt;优先修 3 项实测不达标：重复单号、外键断链、单位不统一&lt;/Text&gt;&#10;        &lt;/Box&gt;&#10;        &lt;Box style={{ width: 132, height: 34, background: 'rgba(255,255,255,0.85)', borderRadius: 17, justifyContent: 'center', alignItems: 'center', marginRight: 22 }}&gt;&#10;            &lt;Text style={{ fontSize: 17, fontWeight: 'bold', color: '#1F4E35' }}&gt;规划&lt;/Text&gt;&#10;        &lt;/Box&gt;&#10;    &lt;/Box&gt;&#10;&#10;    &lt;Box style={{ flexDirection: 'row', alignItems: 'center', height: 96, background: '#2F6A4E', marginTop: 8 }}&gt;&#10;        &lt;Box style={{ width: 130, justifyContent: 'center', alignItems: 'center', flexDirection: 'column' }}&gt;&#10;            &lt;Text style={{ fontSize: 30, fontWeight: 'bold', color: '#FFFFFF' }}&gt;管&lt;/Text&gt;&#10;            &lt;Text style={{ fontSize: 15, color: '#D3E6DC', marginTop: 4 }}&gt;资产管理&lt;/Text&gt;&#10;        &lt;/Box&gt;&#10;        &lt;Box style={{ flex: 1, flexDirection: 'column' }}&gt;&#10;            &lt;Text style={{ fontSize: 20, fontWeight: 'bold', color: '#FFFFFF' }}&gt;目录 / 血缘 / 权限 / 审计四位一体&lt;/Text&gt;&#10;            &lt;Text style={{ fontSize: 17, color: '#E0EFE7', marginTop: 8 }}&gt;补齐保留与删除流程、2 个无主业务域的 Owner——这是当前卡口&lt;/Text&gt;&#10;        &lt;/Box&gt;&#10;        &lt;Box style={{ width: 132, height: 34, background: 'rgba(255,255,255,0.85)', borderRadius: 17, justifyContent: 'center', alignItems: 'center', marginRight: 22 }}&gt;&#10;            &lt;Text style={{ fontSize: 17, fontWeight: 'bold', color: '#2F6A4E' }}&gt;规划&lt;/Text&gt;&#10;        &lt;/Box&gt;&#10;    &lt;/Box&gt;&#10;&#10;    &lt;Box style={{ flexDirection: 'row', alignItems: 'center', height: 76, background: '#F2F5F3', marginTop: 8 }}&gt;&#10;        &lt;Box style={{ width: 130, justifyContent: 'center', alignItems: 'center', flexDirection: 'column' }}&gt;&#10;            &lt;Text style={{ fontSize: 26, fontWeight: 'bold', color: '#7FA797' }}&gt;服 / 用 / 模&lt;/Text&gt;&#10;        &lt;/Box&gt;&#10;        &lt;Box style={{ flex: 1, flexDirection: 'column' }}&gt;&#10;            &lt;Text style={{ fontSize: 19, fontWeight: 'bold', color: '#44546A' }}&gt;服务共享 / 应用变现 / 模型算法&lt;/Text&gt;&#10;            &lt;Text style={{ fontSize: 16, color: '#808080', marginTop: 6 }}&gt;对外产品（价格指数、供需报告）与模型能力均在此层，二、三期启动&lt;/Text&gt;&#10;        &lt;/Box&gt;&#10;        &lt;Box style={{ width: 132, height: 34, background: '#E7E6E6', borderRadius: 17, justifyContent: 'center', alignItems: 'center', marginRight: 22 }}&gt;&#10;            &lt;Text style={{ fontSize: 17, fontWeight: 'bold', color: '#808080' }}&gt;暂缓&lt;/Text&gt;&#10;        &lt;/Box&gt;&#10;    &lt;/Box&gt;&#10;&#10;    &lt;Box style={{ flexDirection: 'row', justifyContent: 'space-between', alignItems: 'center', marginTop: 20 }}&gt;&#10;        &lt;Text style={{ fontSize: 14, color: '#808080' }}&gt;Source: 架构蓝图七层结论 ｜ Footnote: 治理卡口当前不通过（保留删除流程缺失、2 域无 Owner）&lt;/Text&gt;&#10;        &lt;Text style={{ fontSize: 14, color: '#808080' }}&gt;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七道工序全景，本期建设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汇存治管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1257300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E35"/>
                </a:solidFill>
                <a:latin typeface="Microsoft YaHei"/>
                <a:ea typeface="Microsoft YaHei"/>
              </a:rPr>
              <a:t>本期在建</a:t>
            </a:r>
            <a:r>
              <a:rPr lang="en-US" sz="1200" b="1">
                <a:solidFill>
                  <a:srgbClr val="1F4E35"/>
                </a:solidFill>
                <a:latin typeface="Microsoft YaHei"/>
                <a:ea typeface="Microsoft YaHei"/>
              </a:rPr>
              <a:t> / </a:t>
            </a:r>
            <a:r>
              <a:rPr lang="zh-CN" sz="1200" b="1">
                <a:solidFill>
                  <a:srgbClr val="1F4E35"/>
                </a:solidFill>
                <a:latin typeface="Microsoft YaHei"/>
                <a:ea typeface="Microsoft YaHei"/>
              </a:rPr>
              <a:t>规划（汇存治管）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791700" y="12573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808080"/>
                </a:solidFill>
                <a:latin typeface="Microsoft YaHei"/>
                <a:ea typeface="Microsoft YaHei"/>
              </a:rPr>
              <a:t>暂缓至二、三期（服用模）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1543050"/>
            <a:ext cx="11049000" cy="9144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47750" y="17240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汇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04875" y="2105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C7B4"/>
                </a:solidFill>
                <a:latin typeface="Microsoft YaHei"/>
                <a:ea typeface="Microsoft YaHei"/>
              </a:rPr>
              <a:t>采集汇聚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809750" y="1752600"/>
            <a:ext cx="834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统一采集：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6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家市场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+ 7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Excel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台账统一入口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809750" y="2057400"/>
            <a:ext cx="834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4DBCF"/>
                </a:solidFill>
                <a:latin typeface="Microsoft YaHei"/>
                <a:ea typeface="Microsoft YaHei"/>
              </a:rPr>
              <a:t>消除</a:t>
            </a:r>
            <a:r>
              <a:rPr lang="en-US" sz="1275">
                <a:solidFill>
                  <a:srgbClr val="C4DBCF"/>
                </a:solidFill>
                <a:latin typeface="Microsoft YaHei"/>
                <a:ea typeface="Microsoft YaHei"/>
              </a:rPr>
              <a:t> 7 </a:t>
            </a:r>
            <a:r>
              <a:rPr lang="zh-CN" sz="1275">
                <a:solidFill>
                  <a:srgbClr val="C4DBCF"/>
                </a:solidFill>
                <a:latin typeface="Microsoft YaHei"/>
                <a:ea typeface="Microsoft YaHei"/>
              </a:rPr>
              <a:t>处纯手工汇总断点，数据一次进入、全程可溯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10153650" y="18383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620375" y="1905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2032"/>
                </a:solidFill>
                <a:latin typeface="Microsoft YaHei"/>
                <a:ea typeface="Microsoft YaHei"/>
              </a:rPr>
              <a:t>在建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571500" y="2533650"/>
            <a:ext cx="11049000" cy="914400"/>
          </a:xfrm>
          <a:prstGeom prst="rect">
            <a:avLst/>
          </a:prstGeom>
          <a:solidFill>
            <a:srgbClr val="123A2A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47750" y="27146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4875" y="3095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C7B4"/>
                </a:solidFill>
                <a:latin typeface="Microsoft YaHei"/>
                <a:ea typeface="Microsoft YaHei"/>
              </a:rPr>
              <a:t>存储计算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809750" y="2743200"/>
            <a:ext cx="834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四层存储：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ODS → DWD → DWS → ADS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809750" y="3048000"/>
            <a:ext cx="834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4DBCF"/>
                </a:solidFill>
                <a:latin typeface="Microsoft YaHei"/>
                <a:ea typeface="Microsoft YaHei"/>
              </a:rPr>
              <a:t>不建中台——体量不支持，分层存储足够支撑当前规模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10153650" y="28289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620375" y="28956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2032"/>
                </a:solidFill>
                <a:latin typeface="Microsoft YaHei"/>
                <a:ea typeface="Microsoft YaHei"/>
              </a:rPr>
              <a:t>在建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71500" y="3524250"/>
            <a:ext cx="11049000" cy="9144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47750" y="37052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治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04875" y="4086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DBCF"/>
                </a:solidFill>
                <a:latin typeface="Microsoft YaHei"/>
                <a:ea typeface="Microsoft YaHei"/>
              </a:rPr>
              <a:t>治理清洗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809750" y="3733800"/>
            <a:ext cx="834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标准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质量规则集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主数据（商户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One ID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809750" y="4038600"/>
            <a:ext cx="834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优先修</a:t>
            </a:r>
            <a:r>
              <a:rPr lang="en-US" sz="1275">
                <a:solidFill>
                  <a:srgbClr val="D3E6DC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D3E6DC"/>
                </a:solidFill>
                <a:latin typeface="Microsoft YaHei"/>
                <a:ea typeface="Microsoft YaHei"/>
              </a:rPr>
              <a:t>项实测不达标：重复单号、外键断链、单位不统一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10153650" y="38195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620375" y="3886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E35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71500" y="4514850"/>
            <a:ext cx="11049000" cy="914400"/>
          </a:xfrm>
          <a:prstGeom prst="rect">
            <a:avLst/>
          </a:prstGeom>
          <a:solidFill>
            <a:srgbClr val="2F6A4E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管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04875" y="50768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3E6DC"/>
                </a:solidFill>
                <a:latin typeface="Microsoft YaHei"/>
                <a:ea typeface="Microsoft YaHei"/>
              </a:rPr>
              <a:t>资产管理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809750" y="4724400"/>
            <a:ext cx="834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血缘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权限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审计四位一体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809750" y="5029200"/>
            <a:ext cx="834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0EFE7"/>
                </a:solidFill>
                <a:latin typeface="Microsoft YaHei"/>
                <a:ea typeface="Microsoft YaHei"/>
              </a:rPr>
              <a:t>补齐保留与删除流程、</a:t>
            </a:r>
            <a:r>
              <a:rPr lang="en-US" sz="1275">
                <a:solidFill>
                  <a:srgbClr val="E0EFE7"/>
                </a:solidFill>
                <a:latin typeface="Microsoft YaHei"/>
                <a:ea typeface="Microsoft YaHei"/>
              </a:rPr>
              <a:t>2 </a:t>
            </a:r>
            <a:r>
              <a:rPr lang="zh-CN" sz="1275">
                <a:solidFill>
                  <a:srgbClr val="E0EFE7"/>
                </a:solidFill>
                <a:latin typeface="Microsoft YaHei"/>
                <a:ea typeface="Microsoft YaHei"/>
              </a:rPr>
              <a:t>个无主业务域的</a:t>
            </a:r>
            <a:r>
              <a:rPr lang="en-US" sz="1275">
                <a:solidFill>
                  <a:srgbClr val="E0EFE7"/>
                </a:solidFill>
                <a:latin typeface="Microsoft YaHei"/>
                <a:ea typeface="Microsoft YaHei"/>
              </a:rPr>
              <a:t> Owner——</a:t>
            </a:r>
            <a:r>
              <a:rPr lang="zh-CN" sz="1275">
                <a:solidFill>
                  <a:srgbClr val="E0EFE7"/>
                </a:solidFill>
                <a:latin typeface="Microsoft YaHei"/>
                <a:ea typeface="Microsoft YaHei"/>
              </a:rPr>
              <a:t>这是当前卡口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10153650" y="48101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620375" y="48768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F6A4E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71500" y="5505450"/>
            <a:ext cx="11049000" cy="7239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5572125"/>
            <a:ext cx="1238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7FA797"/>
                </a:solidFill>
                <a:latin typeface="Microsoft YaHei"/>
                <a:ea typeface="Microsoft YaHei"/>
              </a:rPr>
              <a:t>服</a:t>
            </a:r>
            <a:r>
              <a:rPr lang="en-US" sz="1950" b="1">
                <a:solidFill>
                  <a:srgbClr val="7FA797"/>
                </a:solidFill>
                <a:latin typeface="Microsoft YaHei"/>
                <a:ea typeface="Microsoft YaHei"/>
              </a:rPr>
              <a:t> / </a:t>
            </a:r>
            <a:r>
              <a:rPr lang="zh-CN" sz="1950" b="1">
                <a:solidFill>
                  <a:srgbClr val="7FA797"/>
                </a:solidFill>
                <a:latin typeface="Microsoft YaHei"/>
                <a:ea typeface="Microsoft YaHei"/>
              </a:rPr>
              <a:t>用</a:t>
            </a:r>
            <a:r>
              <a:rPr lang="en-US" sz="1950" b="1">
                <a:solidFill>
                  <a:srgbClr val="7FA797"/>
                </a:solidFill>
                <a:latin typeface="Microsoft YaHei"/>
                <a:ea typeface="Microsoft YaHei"/>
              </a:rPr>
              <a:t> / </a:t>
            </a:r>
            <a:r>
              <a:rPr lang="zh-CN" sz="1950" b="1">
                <a:solidFill>
                  <a:srgbClr val="7FA797"/>
                </a:solidFill>
                <a:latin typeface="Microsoft YaHei"/>
                <a:ea typeface="Microsoft YaHei"/>
              </a:rPr>
              <a:t>模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809750" y="5638800"/>
            <a:ext cx="834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4546A"/>
                </a:solidFill>
                <a:latin typeface="Microsoft YaHei"/>
                <a:ea typeface="Microsoft YaHei"/>
              </a:rPr>
              <a:t>服务共享</a:t>
            </a:r>
            <a:r>
              <a:rPr lang="en-US" sz="1425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44546A"/>
                </a:solidFill>
                <a:latin typeface="Microsoft YaHei"/>
                <a:ea typeface="Microsoft YaHei"/>
              </a:rPr>
              <a:t>应用变现</a:t>
            </a:r>
            <a:r>
              <a:rPr lang="en-US" sz="1425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44546A"/>
                </a:solidFill>
                <a:latin typeface="Microsoft YaHei"/>
                <a:ea typeface="Microsoft YaHei"/>
              </a:rPr>
              <a:t>模型算法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809750" y="5915025"/>
            <a:ext cx="834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对外产品（价格指数、供需报告）与模型能力均在此层，二、三期启动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0153650" y="570547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620375" y="57721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808080"/>
                </a:solidFill>
                <a:latin typeface="Microsoft YaHei"/>
                <a:ea typeface="Microsoft YaHei"/>
              </a:rPr>
              <a:t>暂缓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6419850"/>
            <a:ext cx="595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架构蓝图七层结论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治理卡口当前不通过（保留删除流程缺失、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域无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Owner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58575" y="64198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9" name="" descr="&lt;Slide style={{ width: 1280, height: 720, background: '#FFFFFF', padding: '44px 60px 0 60px' }}&gt;&#10;    &lt;Text style={{ fontSize: 34, fontWeight: 'bold', color: '#062032', lineHeight: 1.28 }}&gt;&#10;        DCMM L2，接入 14 系统，库表千级&#10;    &lt;/Text&gt;&#10;    &lt;Box style={{ width: 1160, height: 1, background: '#000000', marginTop: 12 }} /&gt;&#10;&#10;    &lt;Box style={{ flexDirection: 'row', gap: 20, marginTop: 24, height: 220 }}&gt;&#10;        &lt;Box style={{ flex: 1, flexDirection: 'column', background: '#1F4E35', padding: 22 }}&gt;&#10;            &lt;Text style={{ fontSize: 17, fontWeight: 'bold', color: '#9FD8BC', letterSpacing: 2 }}&gt;成熟度等级&lt;/Text&gt;&#10;            &lt;Text style={{ fontSize: 68, fontWeight: 'bold', color: '#FFFFFF', lineHeight: 1, marginTop: 14 }}&gt;L2&lt;/Text&gt;&#10;            &lt;Text style={{ fontSize: 19, color: '#C4DBCF', marginTop: 12 }}&gt;受管理级（加权 1.7 / 5）&lt;/Text&gt;&#10;        &lt;/Box&gt;&#10;        &lt;Box style={{ flex: 1, flexDirection: 'column', background: '#F2F5F3', padding: 22 }}&gt;&#10;            &lt;Text style={{ fontSize: 17, fontWeight: 'bold', color: '#7FA797', letterSpacing: 2 }}&gt;接入系统&lt;/Text&gt;&#10;            &lt;Text style={{ fontSize: 68, fontWeight: 'bold', color: '#1F4E35', lineHeight: 1, marginTop: 14 }}&gt;14&lt;/Text&gt;&#10;            &lt;Text style={{ fontSize: 19, color: '#44546A', marginTop: 12 }}&gt;个（21 个系统中 7 个为离线文件）&lt;/Text&gt;&#10;        &lt;/Box&gt;&#10;        &lt;Box style={{ flex: 1, flexDirection: 'column', background: '#F2F5F3', padding: 22 }}&gt;&#10;            &lt;Text style={{ fontSize: 17, fontWeight: 'bold', color: '#7FA797', letterSpacing: 2 }}&gt;库表规模&lt;/Text&gt;&#10;            &lt;Text style={{ fontSize: 68, fontWeight: 'bold', color: '#1F4E35', lineHeight: 1, marginTop: 14 }}&gt;千级&lt;/Text&gt;&#10;            &lt;Text style={{ fontSize: 19, color: '#44546A', marginTop: 12 }}&gt;1,120 张表 + 约 200 个 Excel&lt;/Text&gt;&#10;        &lt;/Box&gt;&#10;        &lt;Box style={{ flex: 1, flexDirection: 'column', background: '#F2F5F3', padding: 22 }}&gt;&#10;            &lt;Text style={{ fontSize: 17, fontWeight: 'bold', color: '#7FA797', letterSpacing: 2 }}&gt;核心指标&lt;/Text&gt;&#10;            &lt;Text style={{ fontSize: 68, fontWeight: 'bold', color: '#1F4E35', lineHeight: 1, marginTop: 14 }}&gt;10&lt;/Text&gt;&#10;            &lt;Text style={{ fontSize: 19, color: '#44546A', marginTop: 12 }}&gt;个，已建指标字典与 Owner&lt;/Text&gt;&#10;        &lt;/Box&gt;&#10;    &lt;/Box&gt;&#10;&#10;    &lt;Box style={{ marginTop: 20, flexDirection: 'row', gap: 24 }}&gt;&#10;        &lt;Box style={{ flex: 1, flexDirection: 'column' }}&gt;&#10;            &lt;Box style={{ flexDirection: 'row', alignItems: 'center', gap: 10 }}&gt;&#10;                &lt;Box style={{ width: 4, height: 24, background: '#1F4E35' }} /&gt;&#10;                &lt;Text style={{ fontSize: 21, fontWeight: 'bold', color: '#1F4E35' }}&gt;基线判断&lt;/Text&gt;&#10;            &lt;/Box&gt;&#10;            &lt;Text style={{ fontSize: 19, color: '#333333', lineHeight: 1.5, marginTop: 12 }}&gt;&#10;                我们&lt;span style={{ fontWeight: 'bold' }}&gt;不是从零开始&lt;/span&gt;：数据已在系统里跑，14 个系统已接入，指标口径已有雏形。&#10;                &lt;Box style={{ height: 0 }} /&gt;&#10;                这意味着一期的短周期出成果是有依据的，而不是画饼。&#10;            &lt;/Text&gt;&#10;        &lt;/Box&gt;&#10;        &lt;Box style={{ flex: 1, flexDirection: 'column' }}&gt;&#10;            &lt;Box style={{ flexDirection: 'row', alignItems: 'center', gap: 10 }}&gt;&#10;                &lt;Box style={{ width: 4, height: 24, background: '#1F4E35' }} /&gt;&#10;                &lt;Text style={{ fontSize: 21, fontWeight: 'bold', color: '#1F4E35' }}&gt;但要看清短板&lt;/Text&gt;&#10;            &lt;/Box&gt;&#10;            &lt;Text style={{ fontSize: 19, color: '#333333', lineHeight: 1.5, marginTop: 12 }}&gt;&#10;                安全与标准两域仅 1 分，是全篇最低；&lt;span style={{ fontWeight: 'bold' }}&gt;246 张沉睡表&lt;/span&gt;与 3 项质量不达标需先治理。&#10;                &lt;Box style={{ height: 0 }} /&gt;&#10;                短板集中在&quot;管&quot;和&quot;治&quot;，正是本期要补的两道工序。&#10;            &lt;/Text&gt;&#10;        &lt;/Box&gt;&#10;    &lt;/Box&gt;&#10;&#10;    &lt;Box style={{ flexDirection: 'row', justifyContent: 'space-between', alignItems: 'center', marginTop: 24 }}&gt;&#10;        &lt;Text style={{ fontSize: 14, color: '#808080' }}&gt;Source: DCMM 初评（GB/T 36073） ｜ 数据摸底摘要 ｜ Footnote: 沉睡表下架公示后再处理&lt;/Text&gt;&#10;        &lt;Text style={{ fontSize: 14, color: '#808080' }}&gt;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DCMM L2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，接入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14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系统，库表千级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71500" y="1276350"/>
            <a:ext cx="2619375" cy="2095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1050" y="148590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成熟度等级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1050" y="1819275"/>
            <a:ext cx="22002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2714625"/>
            <a:ext cx="2200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4DBCF"/>
                </a:solidFill>
                <a:latin typeface="Microsoft YaHei"/>
                <a:ea typeface="Microsoft YaHei"/>
              </a:rPr>
              <a:t>受管理级（加权</a:t>
            </a:r>
            <a:r>
              <a:rPr lang="en-US" sz="1425">
                <a:solidFill>
                  <a:srgbClr val="C4DBCF"/>
                </a:solidFill>
                <a:latin typeface="Microsoft YaHei"/>
                <a:ea typeface="Microsoft YaHei"/>
              </a:rPr>
              <a:t> 1.7 / 5</a:t>
            </a:r>
            <a:r>
              <a:rPr lang="zh-CN" sz="1425">
                <a:solidFill>
                  <a:srgbClr val="C4DBC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3381375" y="1276350"/>
            <a:ext cx="2619375" cy="2095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590925" y="148590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接入系统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590925" y="1819275"/>
            <a:ext cx="22002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1F4E35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590925" y="2714625"/>
            <a:ext cx="22002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个（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21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个系统中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7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个为离线文件）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191250" y="1276350"/>
            <a:ext cx="2619375" cy="2095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00800" y="148590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库表规模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00800" y="1819275"/>
            <a:ext cx="22002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100" b="1">
                <a:solidFill>
                  <a:srgbClr val="1F4E35"/>
                </a:solidFill>
                <a:latin typeface="Microsoft YaHei"/>
                <a:ea typeface="Microsoft YaHei"/>
              </a:rPr>
              <a:t>千级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400800" y="2714625"/>
            <a:ext cx="22002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1,120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张表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约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200 </a:t>
            </a: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个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Excel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9001125" y="1276350"/>
            <a:ext cx="2619375" cy="2095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210675" y="148590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核心指标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210675" y="1819275"/>
            <a:ext cx="22002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1F4E35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210675" y="2714625"/>
            <a:ext cx="22002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4546A"/>
                </a:solidFill>
                <a:latin typeface="Microsoft YaHei"/>
                <a:ea typeface="Microsoft YaHei"/>
              </a:rPr>
              <a:t>个，已建指标字典与</a:t>
            </a:r>
            <a:r>
              <a:rPr lang="en-US" sz="1425">
                <a:solidFill>
                  <a:srgbClr val="44546A"/>
                </a:solidFill>
                <a:latin typeface="Microsoft YaHei"/>
                <a:ea typeface="Microsoft YaHei"/>
              </a:rPr>
              <a:t> Owner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71500" y="3571875"/>
            <a:ext cx="38100" cy="2286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04850" y="356235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4E35"/>
                </a:solidFill>
                <a:latin typeface="Microsoft YaHei"/>
                <a:ea typeface="Microsoft YaHei"/>
              </a:rPr>
              <a:t>基线判断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3924300"/>
            <a:ext cx="54102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我们</a:t>
            </a:r>
            <a:r>
              <a:rPr lang="zh-CN" sz="1425" b="1">
                <a:solidFill>
                  <a:srgbClr val="333333"/>
                </a:solidFill>
                <a:latin typeface="Microsoft YaHei"/>
                <a:ea typeface="Microsoft YaHei"/>
              </a:rPr>
              <a:t>不是从零开始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：数据已在系统里跑，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14 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个系统已接入，指标口径已有雏形。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这意味着一期的短周期出成果是有依据的，而不是画饼。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210300" y="3571875"/>
            <a:ext cx="38100" cy="2286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343650" y="356235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4E35"/>
                </a:solidFill>
                <a:latin typeface="Microsoft YaHei"/>
                <a:ea typeface="Microsoft YaHei"/>
              </a:rPr>
              <a:t>但要看清短板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10300" y="3924300"/>
            <a:ext cx="54102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安全与标准两域仅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 1 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分，是全篇最低；</a:t>
            </a:r>
            <a:r>
              <a:rPr lang="en-US" sz="1425" b="1">
                <a:solidFill>
                  <a:srgbClr val="333333"/>
                </a:solidFill>
                <a:latin typeface="Microsoft YaHei"/>
                <a:ea typeface="Microsoft YaHei"/>
              </a:rPr>
              <a:t>246 </a:t>
            </a:r>
            <a:r>
              <a:rPr lang="zh-CN" sz="1425" b="1">
                <a:solidFill>
                  <a:srgbClr val="333333"/>
                </a:solidFill>
                <a:latin typeface="Microsoft YaHei"/>
                <a:ea typeface="Microsoft YaHei"/>
              </a:rPr>
              <a:t>张沉睡表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 3 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项质量不达标需先治理。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短板集中在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管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和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治</a:t>
            </a:r>
            <a:r>
              <a:rPr lang="en-US" sz="1425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，正是本期要补的两道工序。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71500" y="5133975"/>
            <a:ext cx="562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DCMM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初评（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GB/T 36073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数据摸底摘要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沉睡表下架公示后再处理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458575" y="5133975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style={{ width: 1280, height: 720, background: '#062032', padding: 0, position: 'relative' }}&gt;&#10;    &lt;Box style={{ position: 'absolute', top: 0, left: 0, width: 1280, height: 720, flexDirection: 'row', alignItems: 'center' }}&gt;&#10;        &lt;Box style={{ width: 470, justifyContent: 'center', alignItems: 'flex-start' }}&gt;&#10;            &lt;Text style={{ fontSize: 260, fontWeight: 'bold', color: 'rgba(255,255,255,0.10)', lineHeight: 1, marginLeft: 44 }}&gt;04&lt;/Text&gt;&#10;        &lt;/Box&gt;&#10;        &lt;Box style={{ width: 1, height: 240, background: 'rgba(255,255,255,0.18)' }} /&gt;&#10;        &lt;Box style={{ flex: 1, flexDirection: 'column', gap: 18, paddingLeft: 64 }}&gt;&#10;            &lt;Text style={{ fontSize: 15, color: '#7FA797', letterSpacing: 4 }}&gt;PART FOUR&lt;/Text&gt;&#10;            &lt;Text style={{ fontSize: 48, fontWeight: 'bold', color: '#FFFFFF', lineHeight: 1.25 }}&gt;&#10;                见效：第一阶段&lt;Box style={{ height: 0 }} /&gt;就能看到什么&#10;            &lt;/Text&gt;&#10;            &lt;Text style={{ fontSize: 20, color: 'rgba(255,255,255,0.55)', lineHeight: 1.5, width: 560 }}&gt;&#10;                Quick Wins — 三个月内的可见成果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19100" y="1943100"/>
            <a:ext cx="30575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0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476750" y="2286000"/>
            <a:ext cx="9525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095875" y="2657475"/>
            <a:ext cx="709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7FA797"/>
                </a:solidFill>
                <a:latin typeface="Microsoft YaHei"/>
                <a:ea typeface="Microsoft YaHei"/>
              </a:rPr>
              <a:t>PART FOUR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095875" y="3000375"/>
            <a:ext cx="7096125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见效：第一阶段</a:t>
            </a: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就能看到什么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095875" y="3857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Quick Wins — </a:t>
            </a:r>
            <a:r>
              <a:rPr lang="zh-CN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三个月内的可见成果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FFFFF', padding: '44px 60px 0 60px' }}&gt;&#10;    &lt;Text style={{ fontSize: 34, fontWeight: 'bold', color: '#062032', lineHeight: 1.28 }}&gt;&#10;        3 个月内三项成果可见&#10;    &lt;/Text&gt;&#10;    &lt;Box style={{ width: 1160, height: 1, background: '#000000', marginTop: 12 }} /&gt;&#10;&#10;    &lt;Box style={{ flexDirection: 'row', gap: 24, marginTop: 28, height: 268 }}&gt;&#10;        &lt;Box style={{ flex: 1, flexDirection: 'column', background: '#F2F5F3', borderRadius: 4, padding: '24px 22px' }}&gt;&#10;            &lt;Box style={{ width: 52, height: 52, borderRadius: 26, background: '#1F4E35', justifyContent: 'center', alignItems: 'center' }}&gt;&#10;                &lt;Text style={{ fontSize: 24, fontWeight: 'bold', color: '#FFFFFF' }}&gt;1&lt;/Text&gt;&#10;            &lt;/Box&gt;&#10;            &lt;Text style={{ fontSize: 23, fontWeight: 'bold', color: '#062032', marginTop: 16 }}&gt;集团经营日报自动生成&lt;/Text&gt;&#10;            &lt;Text style={{ fontSize: 18, color: '#44546A', lineHeight: 1.45, marginTop: 12 }}&gt;&#10;                告别 2 人半日的手工汇总，管理层早上就能看到昨日全集团经营情况。&#10;            &lt;/Text&gt;&#10;            &lt;Box style={{ marginTop: 14, flexDirection: 'row', alignItems: 'center', gap: 8 }}&gt;&#10;                &lt;Box style={{ width: 3, height: 20, background: '#1F4E35' }} /&gt;&#10;                &lt;Text style={{ fontSize: 17, color: '#1F4E35', fontWeight: 'bold' }}&gt;T+3 → T+1&lt;/Text&gt;&#10;            &lt;/Box&gt;&#10;        &lt;/Box&gt;&#10;        &lt;Box style={{ flex: 1, flexDirection: 'column', background: '#F2F5F3', borderRadius: 4, padding: '24px 22px' }}&gt;&#10;            &lt;Box style={{ width: 52, height: 52, borderRadius: 26, background: '#1F4E35', justifyContent: 'center', alignItems: 'center' }}&gt;&#10;                &lt;Text style={{ fontSize: 24, fontWeight: 'bold', color: '#FFFFFF' }}&gt;2&lt;/Text&gt;&#10;            &lt;/Box&gt;&#10;            &lt;Text style={{ fontSize: 23, fontWeight: 'bold', color: '#062032', marginTop: 16 }}&gt;跨市场经营驾驶舱&lt;/Text&gt;&#10;            &lt;Text style={{ fontSize: 18, color: '#44546A', lineHeight: 1.45, marginTop: 12 }}&gt;&#10;                口径统一后，会上不再为&quot;数字对不上&quot;拉扯，六个市场可横向对比。&#10;            &lt;/Text&gt;&#10;            &lt;Box style={{ marginTop: 14, flexDirection: 'row', alignItems: 'center', gap: 8 }}&gt;&#10;                &lt;Box style={{ width: 3, height: 20, background: '#1F4E35' }} /&gt;&#10;                &lt;Text style={{ fontSize: 17, color: '#1F4E35', fontWeight: 'bold' }}&gt;争议当场消解&lt;/Text&gt;&#10;            &lt;/Box&gt;&#10;        &lt;/Box&gt;&#10;        &lt;Box style={{ flex: 1, flexDirection: 'column', background: '#1F4E35', borderRadius: 4, padding: '24px 22px' }}&gt;&#10;            &lt;Box style={{ width: 52, height: 52, borderRadius: 26, background: '#7FB89E', justifyContent: 'center', alignItems: 'center' }}&gt;&#10;                &lt;Text style={{ fontSize: 24, fontWeight: 'bold', color: '#062032' }}&gt;3&lt;/Text&gt;&#10;            &lt;/Box&gt;&#10;            &lt;Text style={{ fontSize: 23, fontWeight: 'bold', color: '#FFFFFF', marginTop: 16 }}&gt;价格异常自动预警&lt;/Text&gt;&#10;            &lt;Text style={{ fontSize: 18, color: '#C4DBCF', lineHeight: 1.45, marginTop: 12 }}&gt;&#10;                先统一单位口径，再上阈值预警；价格异动当天可知，不再事后复盘。&#10;            &lt;/Text&gt;&#10;            &lt;Box style={{ marginTop: 14, flexDirection: 'row', alignItems: 'center', gap: 8 }}&gt;&#10;                &lt;Box style={{ width: 3, height: 20, background: '#7FB89E' }} /&gt;&#10;                &lt;Text style={{ fontSize: 17, color: '#9FD8BC', fontWeight: 'bold' }}&gt;周级 → 当日&lt;/Text&gt;&#10;            &lt;/Box&gt;&#10;        &lt;/Box&gt;&#10;    &lt;/Box&gt;&#10;&#10;    &lt;Box style={{ marginTop: 24, flexDirection: 'row', alignItems: 'center', gap: 16, border: '1px solid #E7E6E6', borderRadius: 4, padding: '16px 24px' }}&gt;&#10;        &lt;Text style={{ fontSize: 19, color: '#062032', lineHeight: 1.45, flex: 1 }}&gt;&#10;            &lt;span style={{ fontWeight: 'bold' }}&gt;为什么这三个能先做？&lt;/span&gt;&#10;            因为它们的数据已经在系统里，属于地基（采集层）完成后即可兑现的成果，不依赖治理层全部完工。&#10;        &lt;/Text&gt;&#10;    &lt;/Box&gt;&#10;&#10;    &lt;Box style={{ flexDirection: 'row', justifyContent: 'space-between', alignItems: 'center', marginTop: 20 }}&gt;&#10;        &lt;Text style={{ fontSize: 14, color: '#808080' }}&gt;Source: 数据产品清单 I-01 / I-02 / I-03（一期成果包）&lt;/Text&gt;&#10;        &lt;Text style={{ fontSize: 14, color: '#808080' }}&gt;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3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个月内三项成果可见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71500" y="1314450"/>
            <a:ext cx="3533775" cy="2552700"/>
          </a:xfrm>
          <a:prstGeom prst="roundRect">
            <a:avLst>
              <a:gd name="adj" fmla="val 1493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781050" y="15430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62025" y="16573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81050" y="2190750"/>
            <a:ext cx="3114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62032"/>
                </a:solidFill>
                <a:latin typeface="Microsoft YaHei"/>
                <a:ea typeface="Microsoft YaHei"/>
              </a:rPr>
              <a:t>集团经营日报自动生成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81050" y="2571750"/>
            <a:ext cx="31146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告别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人半日的手工汇总，管理层早上就能看到昨日全集团经营情况。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781050" y="3314700"/>
            <a:ext cx="28575" cy="190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85825" y="330517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E35"/>
                </a:solidFill>
                <a:latin typeface="Microsoft YaHei"/>
                <a:ea typeface="Microsoft YaHei"/>
              </a:rPr>
              <a:t>T+3 → T+1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333875" y="1314450"/>
            <a:ext cx="3524250" cy="2552700"/>
          </a:xfrm>
          <a:prstGeom prst="roundRect">
            <a:avLst>
              <a:gd name="adj" fmla="val 1493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4543425" y="15430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724400" y="16573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43425" y="2190750"/>
            <a:ext cx="3105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62032"/>
                </a:solidFill>
                <a:latin typeface="Microsoft YaHei"/>
                <a:ea typeface="Microsoft YaHei"/>
              </a:rPr>
              <a:t>跨市场经营驾驶舱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43425" y="2571750"/>
            <a:ext cx="310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口径统一后，会上不再为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数字对不上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拉扯，六个市场可横向对比。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543425" y="3314700"/>
            <a:ext cx="28575" cy="190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648200" y="33051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E35"/>
                </a:solidFill>
                <a:latin typeface="Microsoft YaHei"/>
                <a:ea typeface="Microsoft YaHei"/>
              </a:rPr>
              <a:t>争议当场消解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86725" y="1314450"/>
            <a:ext cx="3533775" cy="2552700"/>
          </a:xfrm>
          <a:prstGeom prst="roundRect">
            <a:avLst>
              <a:gd name="adj" fmla="val 1493"/>
            </a:avLst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296275" y="154305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477250" y="16573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2032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296275" y="2190750"/>
            <a:ext cx="3114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价格异常自动预警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296275" y="2571750"/>
            <a:ext cx="31146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先统一单位口径，再上阈值预警；价格异动当天可知，不再事后复盘。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296275" y="3314700"/>
            <a:ext cx="28575" cy="190500"/>
          </a:xfrm>
          <a:prstGeom prst="rect">
            <a:avLst/>
          </a:prstGeom>
          <a:solidFill>
            <a:srgbClr val="7FB89E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401050" y="3305175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FD8BC"/>
                </a:solidFill>
                <a:latin typeface="Microsoft YaHei"/>
                <a:ea typeface="Microsoft YaHei"/>
              </a:rPr>
              <a:t>周级</a:t>
            </a:r>
            <a:r>
              <a:rPr lang="en-US" sz="1275" b="1">
                <a:solidFill>
                  <a:srgbClr val="9FD8BC"/>
                </a:solidFill>
                <a:latin typeface="Microsoft YaHei"/>
                <a:ea typeface="Microsoft YaHei"/>
              </a:rPr>
              <a:t> → </a:t>
            </a:r>
            <a:r>
              <a:rPr lang="zh-CN" sz="1275" b="1">
                <a:solidFill>
                  <a:srgbClr val="9FD8BC"/>
                </a:solidFill>
                <a:latin typeface="Microsoft YaHei"/>
                <a:ea typeface="Microsoft YaHei"/>
              </a:rPr>
              <a:t>当日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71500" y="4095750"/>
            <a:ext cx="11049000" cy="628650"/>
          </a:xfrm>
          <a:prstGeom prst="roundRect">
            <a:avLst>
              <a:gd name="adj" fmla="val 6061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0100" y="4248150"/>
            <a:ext cx="105918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为什么这三个能先做？</a:t>
            </a:r>
            <a:r>
              <a:rPr lang="zh-CN" sz="1425">
                <a:solidFill>
                  <a:srgbClr val="062032"/>
                </a:solidFill>
                <a:latin typeface="Microsoft YaHei"/>
                <a:ea typeface="Microsoft YaHei"/>
              </a:rPr>
              <a:t>因为它们的数据已经在系统里，属于地基（采集层）完成后即可兑现的成果，不依赖治理层全部完工。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49149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数据产品清单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I-01 / I-02 / I-03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（一期成果包）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458575" y="49149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style={{ width: 1280, height: 720, background: '#062032', padding: 0, position: 'relative' }}&gt;&#10;    &lt;Box style={{ position: 'absolute', top: 0, left: 0, width: 1280, height: 720, flexDirection: 'row', alignItems: 'center' }}&gt;&#10;        &lt;Box style={{ width: 470, justifyContent: 'center', alignItems: 'flex-start' }}&gt;&#10;            &lt;Text style={{ fontSize: 260, fontWeight: 'bold', color: 'rgba(255,255,255,0.10)', lineHeight: 1, marginLeft: 44 }}&gt;05&lt;/Text&gt;&#10;        &lt;/Box&gt;&#10;        &lt;Box style={{ width: 1, height: 240, background: 'rgba(255,255,255,0.18)' }} /&gt;&#10;        &lt;Box style={{ flex: 1, flexDirection: 'column', gap: 18, paddingLeft: 64 }}&gt;&#10;            &lt;Text style={{ fontSize: 15, color: '#7FA797', letterSpacing: 4 }}&gt;PART FIVE&lt;/Text&gt;&#10;            &lt;Text style={{ fontSize: 48, fontWeight: 'bold', color: '#FFFFFF', lineHeight: 1.25 }}&gt;&#10;                保障与决策&lt;Box style={{ height: 0 }} /&gt;&#10;            &lt;/Text&gt;&#10;            &lt;Text style={{ fontSize: 20, color: 'rgba(255,255,255,0.55)', lineHeight: 1.5, width: 560 }}&gt;&#10;                Resources &amp;amp; Decisions — 需要什么支持，请领导批什么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19100" y="1943100"/>
            <a:ext cx="30575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FFFFFF">
                    <a:alpha val="10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4476750" y="2286000"/>
            <a:ext cx="9525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095875" y="2657475"/>
            <a:ext cx="709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7FA797"/>
                </a:solidFill>
                <a:latin typeface="Microsoft YaHei"/>
                <a:ea typeface="Microsoft YaHei"/>
              </a:rPr>
              <a:t>PART FIVE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095875" y="3000375"/>
            <a:ext cx="7096125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保障与决策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095875" y="385762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Resources &amp; Decisions — </a:t>
            </a:r>
            <a:r>
              <a:rPr lang="zh-CN" sz="15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需要什么支持，请领导批什么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background: '#FFFFFF', padding: '44px 60px 0 60px' }}&gt;&#10;    &lt;Text style={{ fontSize: 34, fontWeight: 'bold', color: '#062032', lineHeight: 1.28 }}&gt;&#10;        需新增专职 2–3 人，并建立 Owner 制&#10;    &lt;/Text&gt;&#10;    &lt;Box style={{ width: 1160, height: 1, background: '#000000', marginTop: 12 }} /&gt;&#10;&#10;    &lt;Box style={{ flexDirection: 'row', gap: 24, marginTop: 22, height: 340 }}&gt;&#10;        &lt;Box style={{ flex: 1, flexDirection: 'column', background: '#1F4E35', padding: '24px 22px' }}&gt;&#10;            &lt;Text style={{ fontSize: 17, fontWeight: 'bold', color: '#9FD8BC', letterSpacing: 2 }}&gt;要什么人&lt;/Text&gt;&#10;            &lt;Text style={{ fontSize: 52, fontWeight: 'bold', color: '#FFFFFF', lineHeight: 1.05, marginTop: 14 }}&gt;2–3 人&lt;/Text&gt;&#10;            &lt;Text style={{ fontSize: 20, fontWeight: 'bold', color: '#FFFFFF', marginTop: 10 }}&gt;数据治理专职编制&lt;/Text&gt;&#10;            &lt;Text style={{ fontSize: 18, color: '#C4DBCF', lineHeight: 1.45, marginTop: 12 }}&gt;&#10;                现状&lt;span style={{ fontWeight: 'bold' }}&gt;无专职人员&lt;/span&gt;，是方案最大的落地短板。无人则一切规则无法执行。&#10;            &lt;/Text&gt;&#10;        &lt;/Box&gt;&#10;        &lt;Box style={{ flex: 1, flexDirection: 'column', background: '#F2F5F3', padding: '24px 22px' }}&gt;&#10;            &lt;Text style={{ fontSize: 17, fontWeight: 'bold', color: '#7FA797', letterSpacing: 2 }}&gt;要什么机制&lt;/Text&gt;&#10;            &lt;Text style={{ fontSize: 22, fontWeight: 'bold', color: '#062032', marginTop: 14 }}&gt;三级 Owner 体系&lt;/Text&gt;&#10;            &lt;Box style={{ flexDirection: 'column', gap: 12, marginTop: 14 }}&gt;&#10;                &lt;Text style={{ fontSize: 18, color: '#333333', lineHeight: 1.45 }}&gt;&#10;                    &lt;span style={{ fontWeight: 'bold' }}&gt;指标 Owner&lt;/span&gt;：每个指标一个人负责，10 个核心指标全部具名&#10;                &lt;/Text&gt;&#10;                &lt;Text style={{ fontSize: 18, color: '#333333', lineHeight: 1.45 }}&gt;&#10;                    &lt;span style={{ fontWeight: 'bold' }}&gt;业务域 Owner&lt;/span&gt;：6 个域各一人，须写人名而非&quot;数据部&quot;&#10;                &lt;/Text&gt;&#10;                &lt;Text style={{ fontSize: 18, color: '#333333', lineHeight: 1.45 }}&gt;&#10;                    &lt;span style={{ fontWeight: 'bold' }}&gt;集团治理小组&lt;/span&gt;：跨市场协调，裁决口径冲突&#10;                &lt;/Text&gt;&#10;            &lt;/Box&gt;&#10;        &lt;/Box&gt;&#10;        &lt;Box style={{ flex: 1, flexDirection: 'column', background: '#F2F5F3', padding: '24px 22px' }}&gt;&#10;            &lt;Text style={{ fontSize: 17, fontWeight: 'bold', color: '#7FA797', letterSpacing: 2 }}&gt;要什么钱与时间&lt;/Text&gt;&#10;            &lt;Text style={{ fontSize: 22, fontWeight: 'bold', color: '#062032', marginTop: 14 }}&gt;按 IT 预算另列&lt;/Text&gt;&#10;            &lt;Text style={{ fontSize: 18, color: '#333333', lineHeight: 1.45, marginTop: 14 }}&gt;&#10;                一期以&lt;span style={{ fontWeight: 'bold' }}&gt; 6 个月为最小可用范围&lt;/span&gt;，投入产出的验证点就设在一期成果包。&#10;                &lt;Box style={{ height: 0 }} /&gt;&#10;                不追求一次性大投入，先小范围跑通再评估加码。&#10;            &lt;/Text&gt;&#10;        &lt;/Box&gt;&#10;    &lt;/Box&gt;&#10;&#10;    &lt;Box style={{ marginTop: 18, flexDirection: 'row', alignItems: 'center', gap: 16, background: '#FFFFFF', border: '1px solid #E7E6E6', borderRadius: 4, padding: '14px 22px' }}&gt;&#10;        &lt;Box style={{ width: 4, height: 34, background: '#1F4E35' }} /&gt;&#10;        &lt;Text style={{ fontSize: 18, color: '#062032', lineHeight: 1.45, flex: 1 }}&gt;&#10;            &lt;span style={{ fontWeight: 'bold' }}&gt;为什么 Owner 必须是人？&lt;/span&gt;&#10;            因为&quot;数据部负责&quot;等于没人负责；口径争议需要一个人能拍板签字，这是审计与追责的基础。&#10;        &lt;/Text&gt;&#10;    &lt;/Box&gt;&#10;&#10;    &lt;Box style={{ flexDirection: 'row', justifyContent: 'space-between', alignItems: 'center', marginTop: 16 }}&gt;&#10;        &lt;Text style={{ fontSize: 14, color: '#808080' }}&gt;Source: 价值量化表（投入侧） ｜ 数据质量阶段 Owner 现状盘点&lt;/Text&gt;&#10;        &lt;Text style={{ fontSize: 14, color: '#808080' }}&gt;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需新增专职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2–3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人，并建立</a:t>
            </a:r>
            <a:r>
              <a:rPr lang="en-US" sz="2550" b="1">
                <a:solidFill>
                  <a:srgbClr val="062032"/>
                </a:solidFill>
                <a:latin typeface="Microsoft YaHei"/>
                <a:ea typeface="Microsoft YaHei"/>
              </a:rPr>
              <a:t> Owner </a:t>
            </a: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制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571500" y="1257300"/>
            <a:ext cx="3533775" cy="32385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81050" y="148590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FD8BC"/>
                </a:solidFill>
                <a:latin typeface="Microsoft YaHei"/>
                <a:ea typeface="Microsoft YaHei"/>
              </a:rPr>
              <a:t>要什么人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81050" y="1819275"/>
            <a:ext cx="3114675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>2–3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81050" y="2543175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数据治理专职编制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81050" y="2886075"/>
            <a:ext cx="31146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现状</a:t>
            </a:r>
            <a:r>
              <a:rPr lang="zh-CN" sz="1350" b="1">
                <a:solidFill>
                  <a:srgbClr val="C4DBCF"/>
                </a:solidFill>
                <a:latin typeface="Microsoft YaHei"/>
                <a:ea typeface="Microsoft YaHei"/>
              </a:rPr>
              <a:t>无专职人员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，是方案最大的落地短板。无人则一切规则无法执行。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333875" y="1257300"/>
            <a:ext cx="3524250" cy="3238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43425" y="1485900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要什么机制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543425" y="181927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2032"/>
                </a:solidFill>
                <a:latin typeface="Microsoft YaHei"/>
                <a:ea typeface="Microsoft YaHei"/>
              </a:rPr>
              <a:t>三级</a:t>
            </a:r>
            <a:r>
              <a:rPr lang="en-US" sz="1650" b="1">
                <a:solidFill>
                  <a:srgbClr val="062032"/>
                </a:solidFill>
                <a:latin typeface="Microsoft YaHei"/>
                <a:ea typeface="Microsoft YaHei"/>
              </a:rPr>
              <a:t> Owner </a:t>
            </a:r>
            <a:r>
              <a:rPr lang="zh-CN" sz="1650" b="1">
                <a:solidFill>
                  <a:srgbClr val="062032"/>
                </a:solidFill>
                <a:latin typeface="Microsoft YaHei"/>
                <a:ea typeface="Microsoft YaHei"/>
              </a:rPr>
              <a:t>体系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543425" y="2209800"/>
            <a:ext cx="310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指标</a:t>
            </a:r>
            <a:r>
              <a:rPr lang="en-US" sz="1350" b="1">
                <a:solidFill>
                  <a:srgbClr val="333333"/>
                </a:solidFill>
                <a:latin typeface="Microsoft YaHei"/>
                <a:ea typeface="Microsoft YaHei"/>
              </a:rPr>
              <a:t> Owner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：每个指标一个人负责，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10 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个核心指标全部具名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543425" y="2924175"/>
            <a:ext cx="310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业务域</a:t>
            </a:r>
            <a:r>
              <a:rPr lang="en-US" sz="1350" b="1">
                <a:solidFill>
                  <a:srgbClr val="333333"/>
                </a:solidFill>
                <a:latin typeface="Microsoft YaHei"/>
                <a:ea typeface="Microsoft YaHei"/>
              </a:rPr>
              <a:t> Owner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6 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个域各一人，须写人名而非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数据部</a:t>
            </a:r>
            <a:r>
              <a:rPr lang="en-US" sz="1350">
                <a:solidFill>
                  <a:srgbClr val="333333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543425" y="3638550"/>
            <a:ext cx="310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集团治理小组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：跨市场协调，裁决口径冲突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086725" y="1257300"/>
            <a:ext cx="3533775" cy="32385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296275" y="148590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7FA797"/>
                </a:solidFill>
                <a:latin typeface="Microsoft YaHei"/>
                <a:ea typeface="Microsoft YaHei"/>
              </a:rPr>
              <a:t>要什么钱与时间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96275" y="181927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2032"/>
                </a:solidFill>
                <a:latin typeface="Microsoft YaHei"/>
                <a:ea typeface="Microsoft YaHei"/>
              </a:rPr>
              <a:t>按</a:t>
            </a:r>
            <a:r>
              <a:rPr lang="en-US" sz="1650" b="1">
                <a:solidFill>
                  <a:srgbClr val="062032"/>
                </a:solidFill>
                <a:latin typeface="Microsoft YaHei"/>
                <a:ea typeface="Microsoft YaHei"/>
              </a:rPr>
              <a:t> IT </a:t>
            </a:r>
            <a:r>
              <a:rPr lang="zh-CN" sz="1650" b="1">
                <a:solidFill>
                  <a:srgbClr val="062032"/>
                </a:solidFill>
                <a:latin typeface="Microsoft YaHei"/>
                <a:ea typeface="Microsoft YaHei"/>
              </a:rPr>
              <a:t>预算另列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96275" y="2209800"/>
            <a:ext cx="3114675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一期以</a:t>
            </a:r>
            <a:r>
              <a:rPr lang="en-US" sz="1350" b="1">
                <a:solidFill>
                  <a:srgbClr val="333333"/>
                </a:solidFill>
                <a:latin typeface="Microsoft YaHei"/>
                <a:ea typeface="Microsoft YaHei"/>
              </a:rPr>
              <a:t> 6 </a:t>
            </a:r>
            <a:r>
              <a:rPr lang="zh-CN" sz="1350" b="1">
                <a:solidFill>
                  <a:srgbClr val="333333"/>
                </a:solidFill>
                <a:latin typeface="Microsoft YaHei"/>
                <a:ea typeface="Microsoft YaHei"/>
              </a:rPr>
              <a:t>个月为最小可用范围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，投入产出的验证点就设在一期成果包。</a:t>
            </a:r>
            <a:r>
              <a:rPr lang="zh-CN" sz="1350">
                <a:solidFill>
                  <a:srgbClr val="333333"/>
                </a:solidFill>
                <a:latin typeface="Microsoft YaHei"/>
                <a:ea typeface="Microsoft YaHei"/>
              </a:rPr>
              <a:t>不追求一次性大投入，先小范围跑通再评估加码。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571500" y="4667250"/>
            <a:ext cx="11049000" cy="5905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781050" y="4800600"/>
            <a:ext cx="38100" cy="3238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104394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为什么</a:t>
            </a:r>
            <a:r>
              <a:rPr lang="en-US" sz="1350" b="1">
                <a:solidFill>
                  <a:srgbClr val="062032"/>
                </a:solidFill>
                <a:latin typeface="Microsoft YaHei"/>
                <a:ea typeface="Microsoft YaHei"/>
              </a:rPr>
              <a:t> Owner </a:t>
            </a: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必须是人？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因为</a:t>
            </a:r>
            <a:r>
              <a:rPr lang="en-US" sz="1350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数据部负责</a:t>
            </a:r>
            <a:r>
              <a:rPr lang="en-US" sz="1350">
                <a:solidFill>
                  <a:srgbClr val="062032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等于没人负责；口径争议需要一个人能拍板签字，这是审计与追责的基础。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71500" y="5410200"/>
            <a:ext cx="389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价值量化表（投入侧）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数据质量阶段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Owner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现状盘点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458575" y="541020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14" name="" descr="&lt;Slide style={{ width: 1280, height: 720, background: '#FFFFFF', padding: '44px 60px 0 60px' }}&gt;&#10;    &lt;Text style={{ fontSize: 34, fontWeight: 'bold', color: '#062032', lineHeight: 1.28 }}&gt;&#10;        确权是所有对外动作的唯一前置&#10;    &lt;/Text&gt;&#10;    &lt;Box style={{ width: 1160, height: 1, background: '#000000', marginTop: 12 }} /&gt;&#10;&#10;    &lt;Box style={{ flexDirection: 'row', gap: 30, marginTop: 28 }}&gt;&#10;        &lt;Box style={{ flex: 1, flexDirection: 'column', background: '#F2F5F3', padding: 24 }}&gt;&#10;            &lt;Text style={{ fontSize: 20, fontWeight: 'bold', color: '#44546A', letterSpacing: 2 }}&gt;不做确权会怎样&lt;/Text&gt;&#10;            &lt;Box style={{ flexDirection: 'column', gap: 14, marginTop: 18 }}&gt;&#10;                &lt;Box style={{ flexDirection: 'row', gap: 12 }}&gt;&#10;                    &lt;Text style={{ fontSize: 20, color: '#808080', fontWeight: 'bold' }}&gt;—&lt;/Text&gt;&#10;                    &lt;Text style={{ fontSize: 19, color: '#333333', lineHeight: 1.45 }}&gt;&#10;                        对外产品无法上线，价格指数发布没有法理基础&#10;                    &lt;/Text&gt;&#10;                &lt;/Box&gt;&#10;                &lt;Box style={{ flexDirection: 'row', gap: 12 }}&gt;&#10;                    &lt;Text style={{ fontSize: 20, color: '#808080', fontWeight: 'bold' }}&gt;—&lt;/Text&gt;&#10;                    &lt;Text style={{ fontSize: 19, color: '#333333', lineHeight: 1.45 }}&gt;&#10;                        数据资产&lt;span style={{ fontWeight: 'bold' }}&gt;无法入表&lt;/span&gt;，账面价值始终是零&#10;                    &lt;/Text&gt;&#10;                &lt;/Box&gt;&#10;                &lt;Box style={{ flexDirection: 'row', gap: 12 }}&gt;&#10;                    &lt;Text style={{ fontSize: 20, color: '#808080', fontWeight: 'bold' }}&gt;—&lt;/Text&gt;&#10;                    &lt;Text style={{ fontSize: 19, color: '#333333', lineHeight: 1.45 }}&gt;&#10;                        商户权益边界模糊，一旦争议将面临法律风险&#10;                    &lt;/Text&gt;&#10;                &lt;/Box&gt;&#10;                &lt;Box style={{ flexDirection: 'row', gap: 12 }}&gt;&#10;                    &lt;Text style={{ fontSize: 20, color: '#808080', fontWeight: 'bold' }}&gt;—&lt;/Text&gt;&#10;                    &lt;Text style={{ fontSize: 19, color: '#333333', lineHeight: 1.45 }}&gt;&#10;                        数据交易、授权、融资合作全部&lt;span style={{ fontWeight: 'bold' }}&gt;无从谈起&lt;/span&gt;&#10;                    &lt;/Text&gt;&#10;                &lt;/Box&gt;&#10;            &lt;/Box&gt;&#10;        &lt;/Box&gt;&#10;&#10;        &lt;Box style={{ flex: 1, flexDirection: 'column', background: '#1F4E35', padding: 24 }}&gt;&#10;            &lt;Text style={{ fontSize: 20, fontWeight: 'bold', color: '#9FD8BC', letterSpacing: 2 }}&gt;做完确权能打开什么&lt;/Text&gt;&#10;            &lt;Box style={{ flexDirection: 'column', gap: 14, marginTop: 18 }}&gt;&#10;                &lt;Box style={{ flexDirection: 'row', gap: 12 }}&gt;&#10;                    &lt;Text style={{ fontSize: 20, color: '#7FB89E', fontWeight: 'bold' }}&gt;+&lt;/Text&gt;&#10;                    &lt;Text style={{ fontSize: 19, color: '#FFFFFF', lineHeight: 1.45 }}&gt;&#10;                        对外数据产品具备合规基础，指数发布可推进&#10;                    &lt;/Text&gt;&#10;                &lt;/Box&gt;&#10;                &lt;Box style={{ flexDirection: 'row', gap: 12 }}&gt;&#10;                    &lt;Text style={{ fontSize: 20, color: '#7FB89E', fontWeight: 'bold' }}&gt;+&lt;/Text&gt;&#10;                    &lt;Text style={{ fontSize: 19, color: '#FFFFFF', lineHeight: 1.45 }}&gt;&#10;                        入表路径打通，数据从&quot;成本&quot;变成&lt;span style={{ fontWeight: 'bold' }}&gt;可计量资产&lt;/span&gt;&#10;                    &lt;/Text&gt;&#10;                &lt;/Box&gt;&#10;                &lt;Box style={{ flexDirection: 'row', gap: 12 }}&gt;&#10;                    &lt;Text style={{ fontSize: 20, color: '#7FB89E', fontWeight: 'bold' }}&gt;+&lt;/Text&gt;&#10;                    &lt;Text style={{ fontSize: 19, color: '#FFFFFF', lineHeight: 1.45 }}&gt;&#10;                        商户权益规则清晰，聚合数据可安全对外&#10;                    &lt;/Text&gt;&#10;                &lt;/Box&gt;&#10;                &lt;Box style={{ flexDirection: 'row', gap: 12 }}&gt;&#10;                    &lt;Text style={{ fontSize: 20, color: '#7FB89E', fontWeight: 'bold' }}&gt;+&lt;/Text&gt;&#10;                    &lt;Text style={{ fontSize: 19, color: '#FFFFFF', lineHeight: 1.45 }}&gt;&#10;                        数据源授权与金融合作具备谈判资格&#10;                    &lt;/Text&gt;&#10;                &lt;/Box&gt;&#10;            &lt;/Box&gt;&#10;        &lt;/Box&gt;&#10;    &lt;/Box&gt;&#10;&#10;    &lt;Box style={{ marginTop: 24, background: '#F2F5F3', borderRadius: 4, padding: '18px 24px', flexDirection: 'row', alignItems: 'center', gap: 20 }}&gt;&#10;        &lt;Text style={{ fontSize: 40, fontWeight: 'bold', color: '#1F4E35', lineHeight: 1 }}&gt;3–6 月&lt;/Text&gt;&#10;        &lt;Box style={{ width: 1, height: 44, background: '#C4DBCF' }} /&gt;&#10;        &lt;Text style={{ fontSize: 19, color: '#062032', lineHeight: 1.45, flex: 1 }}&gt;&#10;            确权专项预计周期 ｜ &lt;span style={{ fontWeight: 'bold' }}&gt;建议作为集团数据工作的第一优先级任务&lt;/span&gt;，并配法务专职参与&#10;        &lt;/Text&gt;&#10;    &lt;/Box&gt;&#10;&#10;    &lt;Box style={{ flexDirection: 'row', justifyContent: 'space-between', alignItems: 'center', marginTop: 20 }}&gt;&#10;        &lt;Text style={{ fontSize: 14, color: '#808080' }}&gt;Source: 数据资产入表路径建议（依据财政部《企业数据资源相关会计处理暂行规定》）&lt;/Text&gt;&#10;        &lt;Text style={{ fontSize: 14, color: '#808080' }}&gt;19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确权是所有对外动作的唯一前置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571500" y="1314450"/>
            <a:ext cx="5381625" cy="2552700"/>
          </a:xfrm>
          <a:prstGeom prst="rect">
            <a:avLst/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0100" y="1543050"/>
            <a:ext cx="4924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44546A"/>
                </a:solidFill>
                <a:latin typeface="Microsoft YaHei"/>
                <a:ea typeface="Microsoft YaHei"/>
              </a:rPr>
              <a:t>不做确权会怎样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1943100"/>
            <a:ext cx="2095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808080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23950" y="1943100"/>
            <a:ext cx="38004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对外产品无法上线，价格指数发布没有法理基础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0100" y="2400300"/>
            <a:ext cx="2095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808080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23950" y="2400300"/>
            <a:ext cx="3076575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数据资产</a:t>
            </a:r>
            <a:r>
              <a:rPr lang="zh-CN" sz="1425" b="1">
                <a:solidFill>
                  <a:srgbClr val="333333"/>
                </a:solidFill>
                <a:latin typeface="Microsoft YaHei"/>
                <a:ea typeface="Microsoft YaHei"/>
              </a:rPr>
              <a:t>无法入表</a:t>
            </a: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，账面价值始终是零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00100" y="2857500"/>
            <a:ext cx="2095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808080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23950" y="2857500"/>
            <a:ext cx="36195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商户权益边界模糊，一旦争议将面临法律风险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00100" y="3314700"/>
            <a:ext cx="2095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808080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23950" y="3314700"/>
            <a:ext cx="3257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333333"/>
                </a:solidFill>
                <a:latin typeface="Microsoft YaHei"/>
                <a:ea typeface="Microsoft YaHei"/>
              </a:rPr>
              <a:t>数据交易、授权、融资合作全部</a:t>
            </a:r>
            <a:r>
              <a:rPr lang="zh-CN" sz="1425" b="1">
                <a:solidFill>
                  <a:srgbClr val="333333"/>
                </a:solidFill>
                <a:latin typeface="Microsoft YaHei"/>
                <a:ea typeface="Microsoft YaHei"/>
              </a:rPr>
              <a:t>无从谈起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238875" y="1314450"/>
            <a:ext cx="5381625" cy="255270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467475" y="1543050"/>
            <a:ext cx="4924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150">
                <a:solidFill>
                  <a:srgbClr val="9FD8BC"/>
                </a:solidFill>
                <a:latin typeface="Microsoft YaHei"/>
                <a:ea typeface="Microsoft YaHei"/>
              </a:rPr>
              <a:t>做完确权能打开什么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67475" y="19431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FB89E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734175" y="1943100"/>
            <a:ext cx="36195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对外数据产品具备合规基础，指数发布可推进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67475" y="24003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FB89E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734175" y="2400300"/>
            <a:ext cx="36004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入表路径打通，数据从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成本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变成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可计量资产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67475" y="28575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FB89E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734175" y="2857500"/>
            <a:ext cx="3257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商户权益规则清晰，聚合数据可安全对外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467475" y="33147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FB89E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734175" y="3314700"/>
            <a:ext cx="28956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数据源授权与金融合作具备谈判资格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71500" y="409575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00100" y="4267200"/>
            <a:ext cx="1171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F4E35"/>
                </a:solidFill>
                <a:latin typeface="Microsoft YaHei"/>
                <a:ea typeface="Microsoft YaHei"/>
              </a:rPr>
              <a:t>3–6 </a:t>
            </a:r>
            <a:r>
              <a:rPr lang="zh-CN" sz="3000" b="1">
                <a:solidFill>
                  <a:srgbClr val="1F4E35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2162175" y="4286250"/>
            <a:ext cx="9525" cy="419100"/>
          </a:xfrm>
          <a:prstGeom prst="rect">
            <a:avLst/>
          </a:prstGeom>
          <a:solidFill>
            <a:srgbClr val="C4DBC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362200" y="4333875"/>
            <a:ext cx="90297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062032"/>
                </a:solidFill>
                <a:latin typeface="Microsoft YaHei"/>
                <a:ea typeface="Microsoft YaHei"/>
              </a:rPr>
              <a:t>确权专项预计周期</a:t>
            </a:r>
            <a:r>
              <a:rPr lang="en-US" sz="1425">
                <a:solidFill>
                  <a:srgbClr val="062032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062032"/>
                </a:solidFill>
                <a:latin typeface="Microsoft YaHei"/>
                <a:ea typeface="Microsoft YaHei"/>
              </a:rPr>
              <a:t>｜</a:t>
            </a:r>
            <a:r>
              <a:rPr lang="en-US" sz="1425">
                <a:solidFill>
                  <a:srgbClr val="062032"/>
                </a:solidFill>
                <a:latin typeface="Microsoft YaHei"/>
                <a:ea typeface="Microsoft YaHei"/>
              </a:rPr>
              <a:t> </a:t>
            </a:r>
            <a:r>
              <a:rPr lang="zh-CN" sz="1425" b="1">
                <a:solidFill>
                  <a:srgbClr val="062032"/>
                </a:solidFill>
                <a:latin typeface="Microsoft YaHei"/>
                <a:ea typeface="Microsoft YaHei"/>
              </a:rPr>
              <a:t>建议作为集团数据工作的第一优先级任务</a:t>
            </a:r>
            <a:r>
              <a:rPr lang="zh-CN" sz="1425">
                <a:solidFill>
                  <a:srgbClr val="062032"/>
                </a:solidFill>
                <a:latin typeface="Microsoft YaHei"/>
                <a:ea typeface="Microsoft YaHei"/>
              </a:rPr>
              <a:t>，并配法务专职参与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5086350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数据资产入表路径建议（依据财政部《企业数据资源相关会计处理暂行规定》）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458575" y="50863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66" name="" descr="&lt;Slide style={{ width: 1280, height: 720, background: '#FFFFFF', padding: '44px 60px 0 60px' }}&gt;&#10;    &lt;Text style={{ fontSize: 34, fontWeight: 'bold', color: '#062032', lineHeight: 1.28 }}&gt;&#10;        请领导决策三件事&#10;    &lt;/Text&gt;&#10;    &lt;Box style={{ width: 1160, height: 1, background: '#000000', marginTop: 12 }} /&gt;&#10;&#10;    &lt;Box style={{ flexDirection: 'row', gap: 24, marginTop: 28, height: 258 }}&gt;&#10;        &lt;Box style={{ flex: 1, flexDirection: 'column', background: '#1F4E35', padding: '24px 22px' }}&gt;&#10;            &lt;Text style={{ fontSize: 54, fontWeight: 'bold', color: '#7FB89E', lineHeight: 1 }}&gt;01&lt;/Text&gt;&#10;            &lt;Text style={{ fontSize: 23, fontWeight: 'bold', color: '#FFFFFF', marginTop: 16, lineHeight: 1.3 }}&gt;&#10;                是否启动数据权属界定专项&#10;            &lt;/Text&gt;&#10;            &lt;Text style={{ fontSize: 18, color: '#C4DBCF', lineHeight: 1.45, marginTop: 12 }}&gt;&#10;                第一优先级。需法务专职参与，预计 3–6 个月出确权结论。&#10;            &lt;/Text&gt;&#10;        &lt;/Box&gt;&#10;        &lt;Box style={{ flex: 1, flexDirection: 'column', background: '#1F4E35', padding: '24px 22px' }}&gt;&#10;            &lt;Text style={{ fontSize: 54, fontWeight: 'bold', color: '#7FB89E', lineHeight: 1 }}&gt;02&lt;/Text&gt;&#10;            &lt;Text style={{ fontSize: 23, fontWeight: 'bold', color: '#FFFFFF', marginTop: 16, lineHeight: 1.3 }}&gt;&#10;                是否批准数据治理专职编制&#10;            &lt;/Text&gt;&#10;            &lt;Text style={{ fontSize: 18, color: '#C4DBCF', lineHeight: 1.45, marginTop: 12 }}&gt;&#10;                2–3 人。现状无专职人员，无人则方案无法落地执行。&#10;            &lt;/Text&gt;&#10;        &lt;/Box&gt;&#10;        &lt;Box style={{ flex: 1, flexDirection: 'column', background: '#1F4E35', padding: '24px 22px' }}&gt;&#10;            &lt;Text style={{ fontSize: 54, fontWeight: 'bold', color: '#7FB89E', lineHeight: 1 }}&gt;03&lt;/Text&gt;&#10;            &lt;Text style={{ fontSize: 23, fontWeight: 'bold', color: '#FFFFFF', marginTop: 16, lineHeight: 1.3 }}&gt;&#10;                是否同意先做一期再评估&#10;            &lt;/Text&gt;&#10;            &lt;Text style={{ fontSize: 18, color: '#C4DBCF', lineHeight: 1.45, marginTop: 12 }}&gt;&#10;                一期 6 个月。小范围验证，以成果包为后续投入的判断依据。&#10;            &lt;/Text&gt;&#10;        &lt;/Box&gt;&#10;    &lt;/Box&gt;&#10;&#10;    &lt;Box style={{ flexDirection: 'row', gap: 24, marginTop: 24 }}&gt;&#10;        &lt;Box style={{ flex: 1, background: '#F2F5F3', borderRadius: 4, padding: '16px 22px' }}&gt;&#10;            &lt;Text style={{ fontSize: 18, color: '#062032', lineHeight: 1.45 }}&gt;&#10;                &lt;span style={{ fontWeight: 'bold' }}&gt;不做什么（防追问）：&lt;/span&gt;&#10;                办公流程数字化、商户满意度调研、一上来建数据中台 —— 三项均已说明原因，不占用数据项目资源。&#10;            &lt;/Text&gt;&#10;        &lt;/Box&gt;&#10;    &lt;/Box&gt;&#10;&#10;    &lt;Box style={{ flexDirection: 'row', justifyContent: 'space-between', alignItems: 'center', marginTop: 22 }}&gt;&#10;        &lt;Text style={{ fontSize: 14, color: '#808080' }}&gt;Source: 领导汇报大纲（第七部分） ｜ Footnote: 决策事项需明确&quot;批什么、批多少、什么时候批&quot;&lt;/Text&gt;&#10;        &lt;Text style={{ fontSize: 14, color: '#808080' }}&gt;2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71500" y="4191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zh-CN" sz="2550" b="1">
                <a:solidFill>
                  <a:srgbClr val="062032"/>
                </a:solidFill>
                <a:latin typeface="Microsoft YaHei"/>
                <a:ea typeface="Microsoft YaHei"/>
              </a:rPr>
              <a:t>请领导决策三件事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71500" y="1038225"/>
            <a:ext cx="11049000" cy="95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571500" y="1314450"/>
            <a:ext cx="3533775" cy="24574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1050" y="1543050"/>
            <a:ext cx="311467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7FB89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81050" y="2314575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是否启动数据权属界定专项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81050" y="2771775"/>
            <a:ext cx="31146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第一优先级。需法务专职参与，预计</a:t>
            </a: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 3–6 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个月出确权结论。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333875" y="1314450"/>
            <a:ext cx="3524250" cy="24574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43425" y="1543050"/>
            <a:ext cx="31051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7FB89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543425" y="2314575"/>
            <a:ext cx="31051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是否批准数据治理专职编制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543425" y="2771775"/>
            <a:ext cx="31051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2–3 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人。现状无专职人员，无人则方案无法落地执行。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086725" y="1314450"/>
            <a:ext cx="3533775" cy="2457450"/>
          </a:xfrm>
          <a:prstGeom prst="rect">
            <a:avLst/>
          </a:prstGeom>
          <a:solidFill>
            <a:srgbClr val="1F4E35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96275" y="1543050"/>
            <a:ext cx="311467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7FB89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96275" y="2314575"/>
            <a:ext cx="3114675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是否同意先做一期再评估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296275" y="2771775"/>
            <a:ext cx="31146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一期</a:t>
            </a:r>
            <a:r>
              <a:rPr lang="en-US" sz="1350">
                <a:solidFill>
                  <a:srgbClr val="C4DBCF"/>
                </a:solidFill>
                <a:latin typeface="Microsoft YaHei"/>
                <a:ea typeface="Microsoft YaHei"/>
              </a:rPr>
              <a:t> 6 </a:t>
            </a:r>
            <a:r>
              <a:rPr lang="zh-CN" sz="1350">
                <a:solidFill>
                  <a:srgbClr val="C4DBCF"/>
                </a:solidFill>
                <a:latin typeface="Microsoft YaHei"/>
                <a:ea typeface="Microsoft YaHei"/>
              </a:rPr>
              <a:t>个月。小范围验证，以成果包为后续投入的判断依据。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" y="400050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F2F5F3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1050" y="4152900"/>
            <a:ext cx="10629900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062032"/>
                </a:solidFill>
                <a:latin typeface="Microsoft YaHei"/>
                <a:ea typeface="Microsoft YaHei"/>
              </a:rPr>
              <a:t>不做什么（防追问）：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办公流程数字化、商户满意度调研、一上来建数据中台</a:t>
            </a:r>
            <a:r>
              <a:rPr lang="en-US" sz="1350">
                <a:solidFill>
                  <a:srgbClr val="062032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062032"/>
                </a:solidFill>
                <a:latin typeface="Microsoft YaHei"/>
                <a:ea typeface="Microsoft YaHei"/>
              </a:rPr>
              <a:t>三项均已说明原因，不占用数据项目资源。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1500" y="481965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领导汇报大纲（第七部分）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 Footnote: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决策事项需明确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批什么、批多少、什么时候批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458575" y="48196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2026-09-12T15:14:36Z</dcterms:created>
  <dcterms:modified xsi:type="dcterms:W3CDTF">2026-09-12T15:14:36Z</dcterms:modified>
</cp:coreProperties>
</file>